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Hammersmith One" charset="1" panose="02010703030501060504"/>
      <p:regular r:id="rId18"/>
    </p:embeddedFont>
    <p:embeddedFont>
      <p:font typeface="Canva Sans" charset="1" panose="020B0503030501040103"/>
      <p:regular r:id="rId19"/>
    </p:embeddedFont>
    <p:embeddedFont>
      <p:font typeface="Canva Sans Bold" charset="1" panose="020B0803030501040103"/>
      <p:regular r:id="rId20"/>
    </p:embeddedFont>
    <p:embeddedFont>
      <p:font typeface="Canva Sans Bold Italics" charset="1" panose="020B0803030501040103"/>
      <p:regular r:id="rId21"/>
    </p:embeddedFont>
    <p:embeddedFont>
      <p:font typeface="Clear Sans" charset="1" panose="020B0503030202020304"/>
      <p:regular r:id="rId22"/>
    </p:embeddedFont>
    <p:embeddedFont>
      <p:font typeface="Montserrat 1 Bold" charset="1" panose="00000800000000000000"/>
      <p:regular r:id="rId23"/>
    </p:embeddedFont>
    <p:embeddedFont>
      <p:font typeface="Montserrat 2"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https://www.sciencedirect.com/science/article/pii/S2352484724006164" TargetMode="External" Type="http://schemas.openxmlformats.org/officeDocument/2006/relationships/hyperlink"/><Relationship Id="rId5" Target="https://www.ijert.org/dual-axis-solar-tracking-system-2" TargetMode="External" Type="http://schemas.openxmlformats.org/officeDocument/2006/relationships/hyperlink"/><Relationship Id="rId6" Target="https://github.com/pratz222/Dual-Axis-Solar-Tracker-using-Arduino" TargetMode="External" Type="http://schemas.openxmlformats.org/officeDocument/2006/relationships/hyperlink"/><Relationship Id="rId7" Target="https://github.com/Mohan-Balaji/Dual_Axis_Solar_Tracker" TargetMode="External" Type="http://schemas.openxmlformats.org/officeDocument/2006/relationships/hyperlink"/><Relationship Id="rId8" Target="https://projecthub.arduino.cc/rinme/dual-axis-solar-tracker-system-using-arduino-d1056a" TargetMode="External" Type="http://schemas.openxmlformats.org/officeDocument/2006/relationships/hyperlink"/><Relationship Id="rId9" Target="https://www.hackster.io/ElectroScopeArchive/dual-axis-solar-tracker-with-arduino-and-ldr-sensors-ee227a"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D986C"/>
        </a:solidFill>
      </p:bgPr>
    </p:bg>
    <p:spTree>
      <p:nvGrpSpPr>
        <p:cNvPr id="1" name=""/>
        <p:cNvGrpSpPr/>
        <p:nvPr/>
      </p:nvGrpSpPr>
      <p:grpSpPr>
        <a:xfrm>
          <a:off x="0" y="0"/>
          <a:ext cx="0" cy="0"/>
          <a:chOff x="0" y="0"/>
          <a:chExt cx="0" cy="0"/>
        </a:xfrm>
      </p:grpSpPr>
      <p:sp>
        <p:nvSpPr>
          <p:cNvPr name="Freeform 2" id="2"/>
          <p:cNvSpPr/>
          <p:nvPr/>
        </p:nvSpPr>
        <p:spPr>
          <a:xfrm flipH="false" flipV="false" rot="0">
            <a:off x="3689423" y="2345179"/>
            <a:ext cx="11029826" cy="5596652"/>
          </a:xfrm>
          <a:custGeom>
            <a:avLst/>
            <a:gdLst/>
            <a:ahLst/>
            <a:cxnLst/>
            <a:rect r="r" b="b" t="t" l="l"/>
            <a:pathLst>
              <a:path h="5596652" w="11029826">
                <a:moveTo>
                  <a:pt x="0" y="0"/>
                </a:moveTo>
                <a:lnTo>
                  <a:pt x="11029826" y="0"/>
                </a:lnTo>
                <a:lnTo>
                  <a:pt x="11029826" y="5596652"/>
                </a:lnTo>
                <a:lnTo>
                  <a:pt x="0" y="55966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590288" y="3944112"/>
            <a:ext cx="9247632" cy="2398776"/>
            <a:chOff x="0" y="0"/>
            <a:chExt cx="12330176" cy="3198368"/>
          </a:xfrm>
        </p:grpSpPr>
        <p:sp>
          <p:nvSpPr>
            <p:cNvPr name="Freeform 4" id="4"/>
            <p:cNvSpPr/>
            <p:nvPr/>
          </p:nvSpPr>
          <p:spPr>
            <a:xfrm flipH="false" flipV="false" rot="0">
              <a:off x="0" y="0"/>
              <a:ext cx="12330176" cy="3198368"/>
            </a:xfrm>
            <a:custGeom>
              <a:avLst/>
              <a:gdLst/>
              <a:ahLst/>
              <a:cxnLst/>
              <a:rect r="r" b="b" t="t" l="l"/>
              <a:pathLst>
                <a:path h="3198368" w="12330176">
                  <a:moveTo>
                    <a:pt x="0" y="0"/>
                  </a:moveTo>
                  <a:lnTo>
                    <a:pt x="12330176" y="0"/>
                  </a:lnTo>
                  <a:lnTo>
                    <a:pt x="12330176" y="3198368"/>
                  </a:lnTo>
                  <a:lnTo>
                    <a:pt x="0" y="3198368"/>
                  </a:lnTo>
                  <a:lnTo>
                    <a:pt x="0" y="0"/>
                  </a:lnTo>
                  <a:close/>
                </a:path>
              </a:pathLst>
            </a:custGeom>
            <a:blipFill>
              <a:blip r:embed="rId4"/>
              <a:stretch>
                <a:fillRect l="-32" t="0" r="-32" b="0"/>
              </a:stretch>
            </a:blipFill>
          </p:spPr>
        </p:sp>
      </p:grpSp>
      <p:grpSp>
        <p:nvGrpSpPr>
          <p:cNvPr name="Group 5" id="5"/>
          <p:cNvGrpSpPr/>
          <p:nvPr/>
        </p:nvGrpSpPr>
        <p:grpSpPr>
          <a:xfrm rot="0">
            <a:off x="5475151" y="7185841"/>
            <a:ext cx="1431874" cy="19050"/>
            <a:chOff x="0" y="0"/>
            <a:chExt cx="1431874" cy="19050"/>
          </a:xfrm>
        </p:grpSpPr>
        <p:sp>
          <p:nvSpPr>
            <p:cNvPr name="Freeform 6" id="6"/>
            <p:cNvSpPr/>
            <p:nvPr/>
          </p:nvSpPr>
          <p:spPr>
            <a:xfrm flipH="false" flipV="false" rot="0">
              <a:off x="0" y="0"/>
              <a:ext cx="1431923" cy="19050"/>
            </a:xfrm>
            <a:custGeom>
              <a:avLst/>
              <a:gdLst/>
              <a:ahLst/>
              <a:cxnLst/>
              <a:rect r="r" b="b" t="t" l="l"/>
              <a:pathLst>
                <a:path h="19050" w="1431923">
                  <a:moveTo>
                    <a:pt x="0" y="0"/>
                  </a:moveTo>
                  <a:lnTo>
                    <a:pt x="1431923" y="0"/>
                  </a:lnTo>
                  <a:lnTo>
                    <a:pt x="1431923" y="19050"/>
                  </a:lnTo>
                  <a:lnTo>
                    <a:pt x="0" y="19050"/>
                  </a:lnTo>
                  <a:close/>
                </a:path>
              </a:pathLst>
            </a:custGeom>
            <a:solidFill>
              <a:srgbClr val="000000"/>
            </a:solidFill>
          </p:spPr>
        </p:sp>
      </p:grpSp>
      <p:grpSp>
        <p:nvGrpSpPr>
          <p:cNvPr name="Group 7" id="7"/>
          <p:cNvGrpSpPr/>
          <p:nvPr/>
        </p:nvGrpSpPr>
        <p:grpSpPr>
          <a:xfrm rot="0">
            <a:off x="8405479" y="7185841"/>
            <a:ext cx="675827" cy="19050"/>
            <a:chOff x="0" y="0"/>
            <a:chExt cx="675830" cy="19050"/>
          </a:xfrm>
        </p:grpSpPr>
        <p:sp>
          <p:nvSpPr>
            <p:cNvPr name="Freeform 8" id="8"/>
            <p:cNvSpPr/>
            <p:nvPr/>
          </p:nvSpPr>
          <p:spPr>
            <a:xfrm flipH="false" flipV="false" rot="0">
              <a:off x="0" y="0"/>
              <a:ext cx="675769" cy="19050"/>
            </a:xfrm>
            <a:custGeom>
              <a:avLst/>
              <a:gdLst/>
              <a:ahLst/>
              <a:cxnLst/>
              <a:rect r="r" b="b" t="t" l="l"/>
              <a:pathLst>
                <a:path h="19050" w="675769">
                  <a:moveTo>
                    <a:pt x="0" y="0"/>
                  </a:moveTo>
                  <a:lnTo>
                    <a:pt x="675769" y="0"/>
                  </a:lnTo>
                  <a:lnTo>
                    <a:pt x="675769" y="19050"/>
                  </a:lnTo>
                  <a:lnTo>
                    <a:pt x="0" y="19050"/>
                  </a:lnTo>
                  <a:close/>
                </a:path>
              </a:pathLst>
            </a:custGeom>
            <a:solidFill>
              <a:srgbClr val="000000"/>
            </a:solidFill>
          </p:spPr>
        </p:sp>
      </p:grpSp>
      <p:grpSp>
        <p:nvGrpSpPr>
          <p:cNvPr name="Group 9" id="9"/>
          <p:cNvGrpSpPr/>
          <p:nvPr/>
        </p:nvGrpSpPr>
        <p:grpSpPr>
          <a:xfrm rot="0">
            <a:off x="10968057" y="7185841"/>
            <a:ext cx="1240336" cy="19050"/>
            <a:chOff x="0" y="0"/>
            <a:chExt cx="1240333" cy="19050"/>
          </a:xfrm>
        </p:grpSpPr>
        <p:sp>
          <p:nvSpPr>
            <p:cNvPr name="Freeform 10" id="10"/>
            <p:cNvSpPr/>
            <p:nvPr/>
          </p:nvSpPr>
          <p:spPr>
            <a:xfrm flipH="false" flipV="false" rot="0">
              <a:off x="0" y="0"/>
              <a:ext cx="1240281" cy="19050"/>
            </a:xfrm>
            <a:custGeom>
              <a:avLst/>
              <a:gdLst/>
              <a:ahLst/>
              <a:cxnLst/>
              <a:rect r="r" b="b" t="t" l="l"/>
              <a:pathLst>
                <a:path h="19050" w="1240281">
                  <a:moveTo>
                    <a:pt x="0" y="0"/>
                  </a:moveTo>
                  <a:lnTo>
                    <a:pt x="1240281" y="0"/>
                  </a:lnTo>
                  <a:lnTo>
                    <a:pt x="1240281" y="19050"/>
                  </a:lnTo>
                  <a:lnTo>
                    <a:pt x="0" y="19050"/>
                  </a:lnTo>
                  <a:close/>
                </a:path>
              </a:pathLst>
            </a:custGeom>
            <a:solidFill>
              <a:srgbClr val="000000"/>
            </a:solidFill>
          </p:spPr>
        </p:sp>
      </p:grpSp>
      <p:sp>
        <p:nvSpPr>
          <p:cNvPr name="TextBox 11" id="11"/>
          <p:cNvSpPr txBox="true"/>
          <p:nvPr/>
        </p:nvSpPr>
        <p:spPr>
          <a:xfrm rot="0">
            <a:off x="4611538" y="4129078"/>
            <a:ext cx="9406395" cy="2188740"/>
          </a:xfrm>
          <a:prstGeom prst="rect">
            <a:avLst/>
          </a:prstGeom>
        </p:spPr>
        <p:txBody>
          <a:bodyPr anchor="t" rtlCol="false" tIns="0" lIns="0" bIns="0" rIns="0">
            <a:spAutoFit/>
          </a:bodyPr>
          <a:lstStyle/>
          <a:p>
            <a:pPr algn="ctr">
              <a:lnSpc>
                <a:spcPts val="8336"/>
              </a:lnSpc>
            </a:pPr>
            <a:r>
              <a:rPr lang="en-US" sz="8387">
                <a:solidFill>
                  <a:srgbClr val="000000"/>
                </a:solidFill>
                <a:latin typeface="Hammersmith One"/>
                <a:ea typeface="Hammersmith One"/>
                <a:cs typeface="Hammersmith One"/>
                <a:sym typeface="Hammersmith One"/>
              </a:rPr>
              <a:t>SMART SOLAR</a:t>
            </a:r>
          </a:p>
          <a:p>
            <a:pPr algn="ctr">
              <a:lnSpc>
                <a:spcPts val="8336"/>
              </a:lnSpc>
            </a:pPr>
            <a:r>
              <a:rPr lang="en-US" sz="8387">
                <a:solidFill>
                  <a:srgbClr val="000000"/>
                </a:solidFill>
                <a:latin typeface="Hammersmith One"/>
                <a:ea typeface="Hammersmith One"/>
                <a:cs typeface="Hammersmith One"/>
                <a:sym typeface="Hammersmith One"/>
              </a:rPr>
              <a:t>TRACKING SYSTEM </a:t>
            </a:r>
          </a:p>
        </p:txBody>
      </p:sp>
      <p:sp>
        <p:nvSpPr>
          <p:cNvPr name="TextBox 12" id="12"/>
          <p:cNvSpPr txBox="true"/>
          <p:nvPr/>
        </p:nvSpPr>
        <p:spPr>
          <a:xfrm rot="0">
            <a:off x="8405479" y="5880402"/>
            <a:ext cx="675599" cy="1305439"/>
          </a:xfrm>
          <a:prstGeom prst="rect">
            <a:avLst/>
          </a:prstGeom>
        </p:spPr>
        <p:txBody>
          <a:bodyPr anchor="t" rtlCol="false" tIns="0" lIns="0" bIns="0" rIns="0">
            <a:spAutoFit/>
          </a:bodyPr>
          <a:lstStyle/>
          <a:p>
            <a:pPr algn="ctr">
              <a:lnSpc>
                <a:spcPts val="7248"/>
              </a:lnSpc>
            </a:pPr>
            <a:r>
              <a:rPr lang="en-US" sz="2899">
                <a:solidFill>
                  <a:srgbClr val="000000"/>
                </a:solidFill>
                <a:latin typeface="Hammersmith One"/>
                <a:ea typeface="Hammersmith One"/>
                <a:cs typeface="Hammersmith One"/>
                <a:sym typeface="Hammersmith One"/>
              </a:rPr>
              <a:t>By</a:t>
            </a:r>
          </a:p>
          <a:p>
            <a:pPr algn="ctr">
              <a:lnSpc>
                <a:spcPts val="5250"/>
              </a:lnSpc>
            </a:pPr>
            <a:r>
              <a:rPr lang="en-US" sz="2100" spc="105">
                <a:solidFill>
                  <a:srgbClr val="000000"/>
                </a:solidFill>
                <a:latin typeface="Hammersmith One"/>
                <a:ea typeface="Hammersmith One"/>
                <a:cs typeface="Hammersmith One"/>
                <a:sym typeface="Hammersmith One"/>
              </a:rPr>
              <a:t>MANI</a:t>
            </a:r>
            <a:r>
              <a:rPr lang="en-US" sz="2100" spc="105">
                <a:solidFill>
                  <a:srgbClr val="000000"/>
                </a:solidFill>
                <a:latin typeface="Hammersmith One"/>
                <a:ea typeface="Hammersmith One"/>
                <a:cs typeface="Hammersmith One"/>
                <a:sym typeface="Hammersmith One"/>
              </a:rPr>
              <a:t> </a:t>
            </a:r>
          </a:p>
        </p:txBody>
      </p:sp>
      <p:sp>
        <p:nvSpPr>
          <p:cNvPr name="TextBox 13" id="13"/>
          <p:cNvSpPr txBox="true"/>
          <p:nvPr/>
        </p:nvSpPr>
        <p:spPr>
          <a:xfrm rot="0">
            <a:off x="5475151" y="6884032"/>
            <a:ext cx="1446800" cy="370999"/>
          </a:xfrm>
          <a:prstGeom prst="rect">
            <a:avLst/>
          </a:prstGeom>
        </p:spPr>
        <p:txBody>
          <a:bodyPr anchor="t" rtlCol="false" tIns="0" lIns="0" bIns="0" rIns="0">
            <a:spAutoFit/>
          </a:bodyPr>
          <a:lstStyle/>
          <a:p>
            <a:pPr algn="l">
              <a:lnSpc>
                <a:spcPts val="2940"/>
              </a:lnSpc>
            </a:pPr>
            <a:r>
              <a:rPr lang="en-US" sz="2100" spc="105">
                <a:solidFill>
                  <a:srgbClr val="000000"/>
                </a:solidFill>
                <a:latin typeface="Hammersmith One"/>
                <a:ea typeface="Hammersmith One"/>
                <a:cs typeface="Hammersmith One"/>
                <a:sym typeface="Hammersmith One"/>
              </a:rPr>
              <a:t>LARSHITHA</a:t>
            </a:r>
            <a:r>
              <a:rPr lang="en-US" sz="2100" spc="105">
                <a:solidFill>
                  <a:srgbClr val="000000"/>
                </a:solidFill>
                <a:latin typeface="Hammersmith One"/>
                <a:ea typeface="Hammersmith One"/>
                <a:cs typeface="Hammersmith One"/>
                <a:sym typeface="Hammersmith One"/>
              </a:rPr>
              <a:t> </a:t>
            </a:r>
          </a:p>
        </p:txBody>
      </p:sp>
      <p:sp>
        <p:nvSpPr>
          <p:cNvPr name="TextBox 14" id="14"/>
          <p:cNvSpPr txBox="true"/>
          <p:nvPr/>
        </p:nvSpPr>
        <p:spPr>
          <a:xfrm rot="0">
            <a:off x="10968057" y="6884032"/>
            <a:ext cx="1251490" cy="370999"/>
          </a:xfrm>
          <a:prstGeom prst="rect">
            <a:avLst/>
          </a:prstGeom>
        </p:spPr>
        <p:txBody>
          <a:bodyPr anchor="t" rtlCol="false" tIns="0" lIns="0" bIns="0" rIns="0">
            <a:spAutoFit/>
          </a:bodyPr>
          <a:lstStyle/>
          <a:p>
            <a:pPr algn="l">
              <a:lnSpc>
                <a:spcPts val="2940"/>
              </a:lnSpc>
            </a:pPr>
            <a:r>
              <a:rPr lang="en-US" sz="2100" spc="105">
                <a:solidFill>
                  <a:srgbClr val="000000"/>
                </a:solidFill>
                <a:latin typeface="Hammersmith One"/>
                <a:ea typeface="Hammersmith One"/>
                <a:cs typeface="Hammersmith One"/>
                <a:sym typeface="Hammersmith One"/>
              </a:rPr>
              <a:t>RISHITHA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7E4E1"/>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9144000" cy="10287000"/>
          </a:xfrm>
        </p:grpSpPr>
        <p:sp>
          <p:nvSpPr>
            <p:cNvPr name="Freeform 3" id="3"/>
            <p:cNvSpPr/>
            <p:nvPr/>
          </p:nvSpPr>
          <p:spPr>
            <a:xfrm flipH="false" flipV="false" rot="0">
              <a:off x="0" y="0"/>
              <a:ext cx="9144000" cy="10287000"/>
            </a:xfrm>
            <a:custGeom>
              <a:avLst/>
              <a:gdLst/>
              <a:ahLst/>
              <a:cxnLst/>
              <a:rect r="r" b="b" t="t" l="l"/>
              <a:pathLst>
                <a:path h="10287000" w="9144000">
                  <a:moveTo>
                    <a:pt x="0" y="0"/>
                  </a:moveTo>
                  <a:lnTo>
                    <a:pt x="0" y="10287000"/>
                  </a:lnTo>
                  <a:lnTo>
                    <a:pt x="9144000" y="10287000"/>
                  </a:lnTo>
                  <a:lnTo>
                    <a:pt x="9144000" y="0"/>
                  </a:lnTo>
                  <a:close/>
                </a:path>
              </a:pathLst>
            </a:custGeom>
            <a:solidFill>
              <a:srgbClr val="FFF6E3"/>
            </a:solidFill>
          </p:spPr>
        </p:sp>
      </p:grpSp>
      <p:grpSp>
        <p:nvGrpSpPr>
          <p:cNvPr name="Group 4" id="4"/>
          <p:cNvGrpSpPr/>
          <p:nvPr/>
        </p:nvGrpSpPr>
        <p:grpSpPr>
          <a:xfrm rot="0">
            <a:off x="502329" y="2608392"/>
            <a:ext cx="8185061" cy="5070216"/>
            <a:chOff x="0" y="0"/>
            <a:chExt cx="12260279" cy="7594600"/>
          </a:xfrm>
        </p:grpSpPr>
        <p:sp>
          <p:nvSpPr>
            <p:cNvPr name="Freeform 5" id="5"/>
            <p:cNvSpPr/>
            <p:nvPr/>
          </p:nvSpPr>
          <p:spPr>
            <a:xfrm flipH="false" flipV="false" rot="0">
              <a:off x="0" y="0"/>
              <a:ext cx="12260279" cy="7594600"/>
            </a:xfrm>
            <a:custGeom>
              <a:avLst/>
              <a:gdLst/>
              <a:ahLst/>
              <a:cxnLst/>
              <a:rect r="r" b="b" t="t" l="l"/>
              <a:pathLst>
                <a:path h="7594600" w="12260279">
                  <a:moveTo>
                    <a:pt x="0" y="0"/>
                  </a:moveTo>
                  <a:lnTo>
                    <a:pt x="12260279" y="0"/>
                  </a:lnTo>
                  <a:lnTo>
                    <a:pt x="12260279" y="7594600"/>
                  </a:lnTo>
                  <a:lnTo>
                    <a:pt x="0" y="7594600"/>
                  </a:lnTo>
                  <a:lnTo>
                    <a:pt x="0" y="0"/>
                  </a:lnTo>
                  <a:close/>
                </a:path>
              </a:pathLst>
            </a:custGeom>
            <a:blipFill>
              <a:blip r:embed="rId2"/>
              <a:stretch>
                <a:fillRect l="-7721" t="0" r="-7721" b="0"/>
              </a:stretch>
            </a:blipFill>
          </p:spPr>
        </p:sp>
      </p:grpSp>
      <p:grpSp>
        <p:nvGrpSpPr>
          <p:cNvPr name="Group 6" id="6"/>
          <p:cNvGrpSpPr/>
          <p:nvPr/>
        </p:nvGrpSpPr>
        <p:grpSpPr>
          <a:xfrm rot="0">
            <a:off x="7269480" y="1192836"/>
            <a:ext cx="4476750" cy="47625"/>
            <a:chOff x="0" y="0"/>
            <a:chExt cx="1179062" cy="12543"/>
          </a:xfrm>
        </p:grpSpPr>
        <p:sp>
          <p:nvSpPr>
            <p:cNvPr name="Freeform 7" id="7"/>
            <p:cNvSpPr/>
            <p:nvPr/>
          </p:nvSpPr>
          <p:spPr>
            <a:xfrm flipH="false" flipV="false" rot="0">
              <a:off x="0" y="0"/>
              <a:ext cx="1179062" cy="12543"/>
            </a:xfrm>
            <a:custGeom>
              <a:avLst/>
              <a:gdLst/>
              <a:ahLst/>
              <a:cxnLst/>
              <a:rect r="r" b="b" t="t" l="l"/>
              <a:pathLst>
                <a:path h="12543" w="1179062">
                  <a:moveTo>
                    <a:pt x="0" y="0"/>
                  </a:moveTo>
                  <a:lnTo>
                    <a:pt x="1179062" y="0"/>
                  </a:lnTo>
                  <a:lnTo>
                    <a:pt x="1179062" y="12543"/>
                  </a:lnTo>
                  <a:lnTo>
                    <a:pt x="0" y="12543"/>
                  </a:lnTo>
                  <a:close/>
                </a:path>
              </a:pathLst>
            </a:custGeom>
            <a:solidFill>
              <a:srgbClr val="4C2A0C"/>
            </a:solidFill>
          </p:spPr>
        </p:sp>
        <p:sp>
          <p:nvSpPr>
            <p:cNvPr name="TextBox 8" id="8"/>
            <p:cNvSpPr txBox="true"/>
            <p:nvPr/>
          </p:nvSpPr>
          <p:spPr>
            <a:xfrm>
              <a:off x="0" y="-47625"/>
              <a:ext cx="1179062" cy="60168"/>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7269480" y="461620"/>
            <a:ext cx="4476750" cy="755028"/>
          </a:xfrm>
          <a:prstGeom prst="rect">
            <a:avLst/>
          </a:prstGeom>
        </p:spPr>
        <p:txBody>
          <a:bodyPr anchor="t" rtlCol="false" tIns="0" lIns="0" bIns="0" rIns="0">
            <a:spAutoFit/>
          </a:bodyPr>
          <a:lstStyle/>
          <a:p>
            <a:pPr algn="l">
              <a:lnSpc>
                <a:spcPts val="6159"/>
              </a:lnSpc>
            </a:pPr>
            <a:r>
              <a:rPr lang="en-US" sz="4399">
                <a:solidFill>
                  <a:srgbClr val="4F4126"/>
                </a:solidFill>
                <a:latin typeface="Hammersmith One"/>
                <a:ea typeface="Hammersmith One"/>
                <a:cs typeface="Hammersmith One"/>
                <a:sym typeface="Hammersmith One"/>
              </a:rPr>
              <a:t>Project Overview:</a:t>
            </a:r>
          </a:p>
        </p:txBody>
      </p:sp>
      <p:sp>
        <p:nvSpPr>
          <p:cNvPr name="TextBox 10" id="10"/>
          <p:cNvSpPr txBox="true"/>
          <p:nvPr/>
        </p:nvSpPr>
        <p:spPr>
          <a:xfrm rot="0">
            <a:off x="10527896" y="2688390"/>
            <a:ext cx="6376208" cy="4990218"/>
          </a:xfrm>
          <a:prstGeom prst="rect">
            <a:avLst/>
          </a:prstGeom>
        </p:spPr>
        <p:txBody>
          <a:bodyPr anchor="t" rtlCol="false" tIns="0" lIns="0" bIns="0" rIns="0">
            <a:spAutoFit/>
          </a:bodyPr>
          <a:lstStyle/>
          <a:p>
            <a:pPr algn="l" marL="567788" indent="-283894" lvl="1">
              <a:lnSpc>
                <a:spcPts val="3634"/>
              </a:lnSpc>
              <a:buFont typeface="Arial"/>
              <a:buChar char="•"/>
            </a:pPr>
            <a:r>
              <a:rPr lang="en-US" sz="2629">
                <a:solidFill>
                  <a:srgbClr val="000000"/>
                </a:solidFill>
                <a:latin typeface="Canva Sans"/>
                <a:ea typeface="Canva Sans"/>
                <a:cs typeface="Canva Sans"/>
                <a:sym typeface="Canva Sans"/>
              </a:rPr>
              <a:t>Automatically tracks the sun’s movement to maximize solar energy harvesting and improve photovoltaic panel efficiency.</a:t>
            </a:r>
          </a:p>
          <a:p>
            <a:pPr algn="l">
              <a:lnSpc>
                <a:spcPts val="3634"/>
              </a:lnSpc>
            </a:pPr>
          </a:p>
          <a:p>
            <a:pPr algn="l" marL="567788" indent="-283894" lvl="1">
              <a:lnSpc>
                <a:spcPts val="3634"/>
              </a:lnSpc>
              <a:buFont typeface="Arial"/>
              <a:buChar char="•"/>
            </a:pPr>
            <a:r>
              <a:rPr lang="en-US" sz="2629">
                <a:solidFill>
                  <a:srgbClr val="000000"/>
                </a:solidFill>
                <a:latin typeface="Canva Sans"/>
                <a:ea typeface="Canva Sans"/>
                <a:cs typeface="Canva Sans"/>
                <a:sym typeface="Canva Sans"/>
              </a:rPr>
              <a:t>Developed using Arduino, LDR sensors, servo motor control, and MATLAB-based virtual instrumentation for real-time monitoring, control, and performance analysis.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683A1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69121" cy="10287000"/>
            <a:chOff x="0" y="0"/>
            <a:chExt cx="18269128" cy="10287000"/>
          </a:xfrm>
        </p:grpSpPr>
        <p:sp>
          <p:nvSpPr>
            <p:cNvPr name="Freeform 3" id="3"/>
            <p:cNvSpPr/>
            <p:nvPr/>
          </p:nvSpPr>
          <p:spPr>
            <a:xfrm flipH="false" flipV="false" rot="0">
              <a:off x="0" y="0"/>
              <a:ext cx="18269083" cy="10287000"/>
            </a:xfrm>
            <a:custGeom>
              <a:avLst/>
              <a:gdLst/>
              <a:ahLst/>
              <a:cxnLst/>
              <a:rect r="r" b="b" t="t" l="l"/>
              <a:pathLst>
                <a:path h="10287000" w="18269083">
                  <a:moveTo>
                    <a:pt x="0" y="0"/>
                  </a:moveTo>
                  <a:lnTo>
                    <a:pt x="0" y="10287000"/>
                  </a:lnTo>
                  <a:lnTo>
                    <a:pt x="18269083" y="10287000"/>
                  </a:lnTo>
                  <a:lnTo>
                    <a:pt x="18269083" y="0"/>
                  </a:lnTo>
                  <a:close/>
                </a:path>
              </a:pathLst>
            </a:custGeom>
            <a:gradFill rotWithShape="true">
              <a:gsLst>
                <a:gs pos="0">
                  <a:srgbClr val="E6BA77">
                    <a:alpha val="100000"/>
                  </a:srgbClr>
                </a:gs>
                <a:gs pos="25000">
                  <a:srgbClr val="FFF7E2">
                    <a:alpha val="100000"/>
                  </a:srgbClr>
                </a:gs>
                <a:gs pos="50000">
                  <a:srgbClr val="E0BA89">
                    <a:alpha val="100000"/>
                  </a:srgbClr>
                </a:gs>
                <a:gs pos="75000">
                  <a:srgbClr val="EBC895">
                    <a:alpha val="100000"/>
                  </a:srgbClr>
                </a:gs>
                <a:gs pos="100000">
                  <a:srgbClr val="E2B381">
                    <a:alpha val="100000"/>
                  </a:srgbClr>
                </a:gs>
              </a:gsLst>
              <a:lin ang="5400000"/>
            </a:gradFill>
          </p:spPr>
        </p:sp>
      </p:grpSp>
      <p:grpSp>
        <p:nvGrpSpPr>
          <p:cNvPr name="Group 4" id="4"/>
          <p:cNvGrpSpPr/>
          <p:nvPr/>
        </p:nvGrpSpPr>
        <p:grpSpPr>
          <a:xfrm rot="0">
            <a:off x="1751776" y="4756192"/>
            <a:ext cx="14784448" cy="4998622"/>
            <a:chOff x="0" y="0"/>
            <a:chExt cx="3379180" cy="1142501"/>
          </a:xfrm>
        </p:grpSpPr>
        <p:sp>
          <p:nvSpPr>
            <p:cNvPr name="Freeform 5" id="5"/>
            <p:cNvSpPr/>
            <p:nvPr/>
          </p:nvSpPr>
          <p:spPr>
            <a:xfrm flipH="false" flipV="false" rot="0">
              <a:off x="0" y="0"/>
              <a:ext cx="3379180" cy="1142501"/>
            </a:xfrm>
            <a:custGeom>
              <a:avLst/>
              <a:gdLst/>
              <a:ahLst/>
              <a:cxnLst/>
              <a:rect r="r" b="b" t="t" l="l"/>
              <a:pathLst>
                <a:path h="1142501" w="3379180">
                  <a:moveTo>
                    <a:pt x="0" y="0"/>
                  </a:moveTo>
                  <a:lnTo>
                    <a:pt x="3379180" y="0"/>
                  </a:lnTo>
                  <a:lnTo>
                    <a:pt x="3379180" y="1142501"/>
                  </a:lnTo>
                  <a:lnTo>
                    <a:pt x="0" y="1142501"/>
                  </a:lnTo>
                  <a:close/>
                </a:path>
              </a:pathLst>
            </a:custGeom>
            <a:blipFill>
              <a:blip r:embed="rId2"/>
              <a:stretch>
                <a:fillRect l="0" t="-1390" r="0" b="-1390"/>
              </a:stretch>
            </a:blipFill>
          </p:spPr>
        </p:sp>
      </p:grpSp>
      <p:sp>
        <p:nvSpPr>
          <p:cNvPr name="TextBox 6" id="6"/>
          <p:cNvSpPr txBox="true"/>
          <p:nvPr/>
        </p:nvSpPr>
        <p:spPr>
          <a:xfrm rot="0">
            <a:off x="1624251" y="425561"/>
            <a:ext cx="8391154" cy="953135"/>
          </a:xfrm>
          <a:prstGeom prst="rect">
            <a:avLst/>
          </a:prstGeom>
        </p:spPr>
        <p:txBody>
          <a:bodyPr anchor="t" rtlCol="false" tIns="0" lIns="0" bIns="0" rIns="0">
            <a:spAutoFit/>
          </a:bodyPr>
          <a:lstStyle/>
          <a:p>
            <a:pPr algn="l">
              <a:lnSpc>
                <a:spcPts val="7839"/>
              </a:lnSpc>
            </a:pPr>
            <a:r>
              <a:rPr lang="en-US" sz="5599">
                <a:solidFill>
                  <a:srgbClr val="6E7F68"/>
                </a:solidFill>
                <a:latin typeface="Hammersmith One"/>
                <a:ea typeface="Hammersmith One"/>
                <a:cs typeface="Hammersmith One"/>
                <a:sym typeface="Hammersmith One"/>
              </a:rPr>
              <a:t>Problem Statement</a:t>
            </a:r>
          </a:p>
        </p:txBody>
      </p:sp>
      <p:sp>
        <p:nvSpPr>
          <p:cNvPr name="TextBox 7" id="7"/>
          <p:cNvSpPr txBox="true"/>
          <p:nvPr/>
        </p:nvSpPr>
        <p:spPr>
          <a:xfrm rot="0">
            <a:off x="1399161" y="1597772"/>
            <a:ext cx="15489678" cy="2891721"/>
          </a:xfrm>
          <a:prstGeom prst="rect">
            <a:avLst/>
          </a:prstGeom>
        </p:spPr>
        <p:txBody>
          <a:bodyPr anchor="t" rtlCol="false" tIns="0" lIns="0" bIns="0" rIns="0">
            <a:spAutoFit/>
          </a:bodyPr>
          <a:lstStyle/>
          <a:p>
            <a:pPr algn="l" marL="599710" indent="-299855" lvl="1">
              <a:lnSpc>
                <a:spcPts val="3888"/>
              </a:lnSpc>
              <a:buFont typeface="Arial"/>
              <a:buChar char="•"/>
            </a:pPr>
            <a:r>
              <a:rPr lang="en-US" sz="2777">
                <a:solidFill>
                  <a:srgbClr val="000000"/>
                </a:solidFill>
                <a:latin typeface="Canva Sans"/>
                <a:ea typeface="Canva Sans"/>
                <a:cs typeface="Canva Sans"/>
                <a:sym typeface="Canva Sans"/>
              </a:rPr>
              <a:t>Fixe</a:t>
            </a:r>
            <a:r>
              <a:rPr lang="en-US" sz="2777">
                <a:solidFill>
                  <a:srgbClr val="000000"/>
                </a:solidFill>
                <a:latin typeface="Canva Sans"/>
                <a:ea typeface="Canva Sans"/>
                <a:cs typeface="Canva Sans"/>
                <a:sym typeface="Canva Sans"/>
              </a:rPr>
              <a:t>d solar panels cannot continuously follow the sun’s movement, reducing overall energy generation efficiency.</a:t>
            </a:r>
          </a:p>
          <a:p>
            <a:pPr algn="l" marL="599710" indent="-299855" lvl="1">
              <a:lnSpc>
                <a:spcPts val="3888"/>
              </a:lnSpc>
              <a:buFont typeface="Arial"/>
              <a:buChar char="•"/>
            </a:pPr>
            <a:r>
              <a:rPr lang="en-US" sz="2777">
                <a:solidFill>
                  <a:srgbClr val="000000"/>
                </a:solidFill>
                <a:latin typeface="Canva Sans"/>
                <a:ea typeface="Canva Sans"/>
                <a:cs typeface="Canva Sans"/>
                <a:sym typeface="Canva Sans"/>
              </a:rPr>
              <a:t>Energy loss becomes more significant during morning, evening, and seasonal variations.</a:t>
            </a:r>
          </a:p>
          <a:p>
            <a:pPr algn="l" marL="599710" indent="-299855" lvl="1">
              <a:lnSpc>
                <a:spcPts val="3888"/>
              </a:lnSpc>
              <a:buFont typeface="Arial"/>
              <a:buChar char="•"/>
            </a:pPr>
            <a:r>
              <a:rPr lang="en-US" sz="2777">
                <a:solidFill>
                  <a:srgbClr val="000000"/>
                </a:solidFill>
                <a:latin typeface="Canva Sans"/>
                <a:ea typeface="Canva Sans"/>
                <a:cs typeface="Canva Sans"/>
                <a:sym typeface="Canva Sans"/>
              </a:rPr>
              <a:t>A low-cost automated tracking system with PID-based control is required to maintain optimal panel alignment.</a:t>
            </a:r>
          </a:p>
          <a:p>
            <a:pPr algn="l">
              <a:lnSpc>
                <a:spcPts val="3888"/>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69121" cy="10287000"/>
            <a:chOff x="0" y="0"/>
            <a:chExt cx="18269128" cy="10287000"/>
          </a:xfrm>
        </p:grpSpPr>
        <p:sp>
          <p:nvSpPr>
            <p:cNvPr name="Freeform 3" id="3"/>
            <p:cNvSpPr/>
            <p:nvPr/>
          </p:nvSpPr>
          <p:spPr>
            <a:xfrm flipH="false" flipV="false" rot="0">
              <a:off x="0" y="0"/>
              <a:ext cx="18269083" cy="10287000"/>
            </a:xfrm>
            <a:custGeom>
              <a:avLst/>
              <a:gdLst/>
              <a:ahLst/>
              <a:cxnLst/>
              <a:rect r="r" b="b" t="t" l="l"/>
              <a:pathLst>
                <a:path h="10287000" w="18269083">
                  <a:moveTo>
                    <a:pt x="0" y="0"/>
                  </a:moveTo>
                  <a:lnTo>
                    <a:pt x="0" y="10287000"/>
                  </a:lnTo>
                  <a:lnTo>
                    <a:pt x="18269083" y="10287000"/>
                  </a:lnTo>
                  <a:lnTo>
                    <a:pt x="18269083" y="0"/>
                  </a:lnTo>
                  <a:close/>
                </a:path>
              </a:pathLst>
            </a:custGeom>
            <a:solidFill>
              <a:srgbClr val="F4EEDF"/>
            </a:solidFill>
          </p:spPr>
        </p:sp>
      </p:grpSp>
      <p:grpSp>
        <p:nvGrpSpPr>
          <p:cNvPr name="Group 4" id="4"/>
          <p:cNvGrpSpPr/>
          <p:nvPr/>
        </p:nvGrpSpPr>
        <p:grpSpPr>
          <a:xfrm rot="0">
            <a:off x="1501516" y="2135746"/>
            <a:ext cx="15284968" cy="6486000"/>
            <a:chOff x="0" y="0"/>
            <a:chExt cx="4025671" cy="1708247"/>
          </a:xfrm>
        </p:grpSpPr>
        <p:sp>
          <p:nvSpPr>
            <p:cNvPr name="Freeform 5" id="5"/>
            <p:cNvSpPr/>
            <p:nvPr/>
          </p:nvSpPr>
          <p:spPr>
            <a:xfrm flipH="false" flipV="false" rot="0">
              <a:off x="0" y="0"/>
              <a:ext cx="4025671" cy="1708247"/>
            </a:xfrm>
            <a:custGeom>
              <a:avLst/>
              <a:gdLst/>
              <a:ahLst/>
              <a:cxnLst/>
              <a:rect r="r" b="b" t="t" l="l"/>
              <a:pathLst>
                <a:path h="1708247" w="4025671">
                  <a:moveTo>
                    <a:pt x="25832" y="0"/>
                  </a:moveTo>
                  <a:lnTo>
                    <a:pt x="3999839" y="0"/>
                  </a:lnTo>
                  <a:cubicBezTo>
                    <a:pt x="4014105" y="0"/>
                    <a:pt x="4025671" y="11565"/>
                    <a:pt x="4025671" y="25832"/>
                  </a:cubicBezTo>
                  <a:lnTo>
                    <a:pt x="4025671" y="1682415"/>
                  </a:lnTo>
                  <a:cubicBezTo>
                    <a:pt x="4025671" y="1696682"/>
                    <a:pt x="4014105" y="1708247"/>
                    <a:pt x="3999839" y="1708247"/>
                  </a:cubicBezTo>
                  <a:lnTo>
                    <a:pt x="25832" y="1708247"/>
                  </a:lnTo>
                  <a:cubicBezTo>
                    <a:pt x="11565" y="1708247"/>
                    <a:pt x="0" y="1696682"/>
                    <a:pt x="0" y="1682415"/>
                  </a:cubicBezTo>
                  <a:lnTo>
                    <a:pt x="0" y="25832"/>
                  </a:lnTo>
                  <a:cubicBezTo>
                    <a:pt x="0" y="11565"/>
                    <a:pt x="11565" y="0"/>
                    <a:pt x="25832" y="0"/>
                  </a:cubicBezTo>
                  <a:close/>
                </a:path>
              </a:pathLst>
            </a:custGeom>
            <a:solidFill>
              <a:srgbClr val="A36F45"/>
            </a:solidFill>
          </p:spPr>
        </p:sp>
        <p:sp>
          <p:nvSpPr>
            <p:cNvPr name="TextBox 6" id="6"/>
            <p:cNvSpPr txBox="true"/>
            <p:nvPr/>
          </p:nvSpPr>
          <p:spPr>
            <a:xfrm>
              <a:off x="0" y="-47625"/>
              <a:ext cx="4025671" cy="1755872"/>
            </a:xfrm>
            <a:prstGeom prst="rect">
              <a:avLst/>
            </a:prstGeom>
          </p:spPr>
          <p:txBody>
            <a:bodyPr anchor="ctr" rtlCol="false" tIns="50800" lIns="50800" bIns="50800" rIns="50800"/>
            <a:lstStyle/>
            <a:p>
              <a:pPr algn="l">
                <a:lnSpc>
                  <a:spcPts val="3499"/>
                </a:lnSpc>
              </a:pPr>
            </a:p>
          </p:txBody>
        </p:sp>
      </p:grpSp>
      <p:sp>
        <p:nvSpPr>
          <p:cNvPr name="TextBox 7" id="7"/>
          <p:cNvSpPr txBox="true"/>
          <p:nvPr/>
        </p:nvSpPr>
        <p:spPr>
          <a:xfrm rot="0">
            <a:off x="5633829" y="296665"/>
            <a:ext cx="6113383" cy="1177690"/>
          </a:xfrm>
          <a:prstGeom prst="rect">
            <a:avLst/>
          </a:prstGeom>
        </p:spPr>
        <p:txBody>
          <a:bodyPr anchor="t" rtlCol="false" tIns="0" lIns="0" bIns="0" rIns="0">
            <a:spAutoFit/>
          </a:bodyPr>
          <a:lstStyle/>
          <a:p>
            <a:pPr algn="l">
              <a:lnSpc>
                <a:spcPts val="9637"/>
              </a:lnSpc>
            </a:pPr>
            <a:r>
              <a:rPr lang="en-US" sz="6884">
                <a:solidFill>
                  <a:srgbClr val="11235A"/>
                </a:solidFill>
                <a:latin typeface="Hammersmith One"/>
                <a:ea typeface="Hammersmith One"/>
                <a:cs typeface="Hammersmith One"/>
                <a:sym typeface="Hammersmith One"/>
              </a:rPr>
              <a:t>INTRODUCTION</a:t>
            </a:r>
          </a:p>
        </p:txBody>
      </p:sp>
      <p:sp>
        <p:nvSpPr>
          <p:cNvPr name="TextBox 8" id="8"/>
          <p:cNvSpPr txBox="true"/>
          <p:nvPr/>
        </p:nvSpPr>
        <p:spPr>
          <a:xfrm rot="0">
            <a:off x="6839369" y="2515133"/>
            <a:ext cx="76371" cy="441427"/>
          </a:xfrm>
          <a:prstGeom prst="rect">
            <a:avLst/>
          </a:prstGeom>
        </p:spPr>
        <p:txBody>
          <a:bodyPr anchor="t" rtlCol="false" tIns="0" lIns="0" bIns="0" rIns="0">
            <a:spAutoFit/>
          </a:bodyPr>
          <a:lstStyle/>
          <a:p>
            <a:pPr algn="l">
              <a:lnSpc>
                <a:spcPts val="3499"/>
              </a:lnSpc>
            </a:pPr>
            <a:r>
              <a:rPr lang="en-US" b="true" sz="2499">
                <a:solidFill>
                  <a:srgbClr val="000000"/>
                </a:solidFill>
                <a:latin typeface="Canva Sans Bold"/>
                <a:ea typeface="Canva Sans Bold"/>
                <a:cs typeface="Canva Sans Bold"/>
                <a:sym typeface="Canva Sans Bold"/>
              </a:rPr>
              <a:t> </a:t>
            </a:r>
          </a:p>
        </p:txBody>
      </p:sp>
      <p:sp>
        <p:nvSpPr>
          <p:cNvPr name="TextBox 9" id="9"/>
          <p:cNvSpPr txBox="true"/>
          <p:nvPr/>
        </p:nvSpPr>
        <p:spPr>
          <a:xfrm rot="0">
            <a:off x="2021614" y="2477033"/>
            <a:ext cx="14225893" cy="6144713"/>
          </a:xfrm>
          <a:prstGeom prst="rect">
            <a:avLst/>
          </a:prstGeom>
        </p:spPr>
        <p:txBody>
          <a:bodyPr anchor="t" rtlCol="false" tIns="0" lIns="0" bIns="0" rIns="0">
            <a:spAutoFit/>
          </a:bodyPr>
          <a:lstStyle/>
          <a:p>
            <a:pPr algn="l" marL="632283" indent="-316142" lvl="1">
              <a:lnSpc>
                <a:spcPts val="4480"/>
              </a:lnSpc>
              <a:buFont typeface="Arial"/>
              <a:buChar char="•"/>
            </a:pPr>
            <a:r>
              <a:rPr lang="en-US" sz="2928" spc="137">
                <a:solidFill>
                  <a:srgbClr val="FAF9F8"/>
                </a:solidFill>
                <a:latin typeface="Canva Sans"/>
                <a:ea typeface="Canva Sans"/>
                <a:cs typeface="Canva Sans"/>
                <a:sym typeface="Canva Sans"/>
              </a:rPr>
              <a:t>Solar energy is one of the most widely used renewable energy sources.</a:t>
            </a:r>
          </a:p>
          <a:p>
            <a:pPr algn="l" marL="632283" indent="-316142" lvl="1">
              <a:lnSpc>
                <a:spcPts val="4480"/>
              </a:lnSpc>
              <a:buFont typeface="Arial"/>
              <a:buChar char="•"/>
            </a:pPr>
            <a:r>
              <a:rPr lang="en-US" sz="2928" spc="137">
                <a:solidFill>
                  <a:srgbClr val="FAF9F8"/>
                </a:solidFill>
                <a:latin typeface="Canva Sans"/>
                <a:ea typeface="Canva Sans"/>
                <a:cs typeface="Canva Sans"/>
                <a:sym typeface="Canva Sans"/>
              </a:rPr>
              <a:t>Fixed solar panels c</a:t>
            </a:r>
            <a:r>
              <a:rPr lang="en-US" sz="2928" spc="137">
                <a:solidFill>
                  <a:srgbClr val="FAF9F8"/>
                </a:solidFill>
                <a:latin typeface="Canva Sans"/>
                <a:ea typeface="Canva Sans"/>
                <a:cs typeface="Canva Sans"/>
                <a:sym typeface="Canva Sans"/>
              </a:rPr>
              <a:t>annot continuously follow the sun’s movement, reducing energy generation efficiency.</a:t>
            </a:r>
          </a:p>
          <a:p>
            <a:pPr algn="l" marL="632283" indent="-316142" lvl="1">
              <a:lnSpc>
                <a:spcPts val="4480"/>
              </a:lnSpc>
              <a:buFont typeface="Arial"/>
              <a:buChar char="•"/>
            </a:pPr>
            <a:r>
              <a:rPr lang="en-US" sz="2928" spc="137">
                <a:solidFill>
                  <a:srgbClr val="FAF9F8"/>
                </a:solidFill>
                <a:latin typeface="Canva Sans"/>
                <a:ea typeface="Canva Sans"/>
                <a:cs typeface="Canva Sans"/>
                <a:sym typeface="Canva Sans"/>
              </a:rPr>
              <a:t>A solar tracking system improves energy capture by adjusting the panel toward maximum sunlight.</a:t>
            </a:r>
          </a:p>
          <a:p>
            <a:pPr algn="l" marL="632283" indent="-316142" lvl="1">
              <a:lnSpc>
                <a:spcPts val="4480"/>
              </a:lnSpc>
              <a:buFont typeface="Arial"/>
              <a:buChar char="•"/>
            </a:pPr>
            <a:r>
              <a:rPr lang="en-US" sz="2928" spc="137">
                <a:solidFill>
                  <a:srgbClr val="FAF9F8"/>
                </a:solidFill>
                <a:latin typeface="Canva Sans"/>
                <a:ea typeface="Canva Sans"/>
                <a:cs typeface="Canva Sans"/>
                <a:sym typeface="Canva Sans"/>
              </a:rPr>
              <a:t>This project presents a low-cost Arduino-based solar tracking system using LDR sensors and a servo motor.</a:t>
            </a:r>
          </a:p>
          <a:p>
            <a:pPr algn="l" marL="632283" indent="-316142" lvl="1">
              <a:lnSpc>
                <a:spcPts val="4480"/>
              </a:lnSpc>
              <a:buFont typeface="Arial"/>
              <a:buChar char="•"/>
            </a:pPr>
            <a:r>
              <a:rPr lang="en-US" sz="2928" spc="137">
                <a:solidFill>
                  <a:srgbClr val="FAF9F8"/>
                </a:solidFill>
                <a:latin typeface="Canva Sans"/>
                <a:ea typeface="Canva Sans"/>
                <a:cs typeface="Canva Sans"/>
                <a:sym typeface="Canva Sans"/>
              </a:rPr>
              <a:t>The system demonstrates concepts of automation, feedback control, and embedded system design.</a:t>
            </a:r>
          </a:p>
          <a:p>
            <a:pPr algn="l">
              <a:lnSpc>
                <a:spcPts val="4480"/>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CD986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69121" cy="10287000"/>
            <a:chOff x="0" y="0"/>
            <a:chExt cx="18269128" cy="10287000"/>
          </a:xfrm>
        </p:grpSpPr>
        <p:sp>
          <p:nvSpPr>
            <p:cNvPr name="Freeform 3" id="3"/>
            <p:cNvSpPr/>
            <p:nvPr/>
          </p:nvSpPr>
          <p:spPr>
            <a:xfrm flipH="false" flipV="false" rot="0">
              <a:off x="0" y="0"/>
              <a:ext cx="18269083" cy="10287000"/>
            </a:xfrm>
            <a:custGeom>
              <a:avLst/>
              <a:gdLst/>
              <a:ahLst/>
              <a:cxnLst/>
              <a:rect r="r" b="b" t="t" l="l"/>
              <a:pathLst>
                <a:path h="10287000" w="18269083">
                  <a:moveTo>
                    <a:pt x="0" y="0"/>
                  </a:moveTo>
                  <a:lnTo>
                    <a:pt x="0" y="10287000"/>
                  </a:lnTo>
                  <a:lnTo>
                    <a:pt x="18269083" y="10287000"/>
                  </a:lnTo>
                  <a:lnTo>
                    <a:pt x="18269083" y="0"/>
                  </a:lnTo>
                  <a:close/>
                </a:path>
              </a:pathLst>
            </a:custGeom>
            <a:solidFill>
              <a:srgbClr val="FFF6E3"/>
            </a:solidFill>
          </p:spPr>
        </p:sp>
      </p:grpSp>
      <p:grpSp>
        <p:nvGrpSpPr>
          <p:cNvPr name="Group 4" id="4"/>
          <p:cNvGrpSpPr/>
          <p:nvPr/>
        </p:nvGrpSpPr>
        <p:grpSpPr>
          <a:xfrm rot="0">
            <a:off x="-698919" y="-2057400"/>
            <a:ext cx="3086100" cy="30861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D986C"/>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3944706" y="1548669"/>
            <a:ext cx="10847527" cy="1889194"/>
          </a:xfrm>
          <a:prstGeom prst="rect">
            <a:avLst/>
          </a:prstGeom>
        </p:spPr>
        <p:txBody>
          <a:bodyPr anchor="t" rtlCol="false" tIns="0" lIns="0" bIns="0" rIns="0">
            <a:spAutoFit/>
          </a:bodyPr>
          <a:lstStyle/>
          <a:p>
            <a:pPr algn="just">
              <a:lnSpc>
                <a:spcPts val="3063"/>
              </a:lnSpc>
            </a:pPr>
            <a:r>
              <a:rPr lang="en-US" b="true" sz="2199" i="true">
                <a:solidFill>
                  <a:srgbClr val="000000"/>
                </a:solidFill>
                <a:latin typeface="Canva Sans Bold Italics"/>
                <a:ea typeface="Canva Sans Bold Italics"/>
                <a:cs typeface="Canva Sans Bold Italics"/>
                <a:sym typeface="Canva Sans Bold Italics"/>
              </a:rPr>
              <a:t>One evening during a power cut (which is basically normal in many Indian villages), we were discussing how some rural areas still depend on dim lights or kerosene lamps at night. Someone shared how their village has long hours of low voltage, making it hard for students to study or families to even charge a phone.</a:t>
            </a:r>
          </a:p>
        </p:txBody>
      </p:sp>
      <p:sp>
        <p:nvSpPr>
          <p:cNvPr name="TextBox 8" id="8"/>
          <p:cNvSpPr txBox="true"/>
          <p:nvPr/>
        </p:nvSpPr>
        <p:spPr>
          <a:xfrm rot="0">
            <a:off x="3944706" y="3609313"/>
            <a:ext cx="8468477" cy="1508194"/>
          </a:xfrm>
          <a:prstGeom prst="rect">
            <a:avLst/>
          </a:prstGeom>
        </p:spPr>
        <p:txBody>
          <a:bodyPr anchor="t" rtlCol="false" tIns="0" lIns="0" bIns="0" rIns="0">
            <a:spAutoFit/>
          </a:bodyPr>
          <a:lstStyle/>
          <a:p>
            <a:pPr algn="l">
              <a:lnSpc>
                <a:spcPts val="3063"/>
              </a:lnSpc>
            </a:pPr>
            <a:r>
              <a:rPr lang="en-US" b="true" sz="2199" i="true">
                <a:solidFill>
                  <a:srgbClr val="000000"/>
                </a:solidFill>
                <a:latin typeface="Canva Sans Bold Italics"/>
                <a:ea typeface="Canva Sans Bold Italics"/>
                <a:cs typeface="Canva Sans Bold Italics"/>
                <a:sym typeface="Canva Sans Bold Italics"/>
              </a:rPr>
              <a:t>That conversation hit us.</a:t>
            </a:r>
          </a:p>
          <a:p>
            <a:pPr algn="l">
              <a:lnSpc>
                <a:spcPts val="3063"/>
              </a:lnSpc>
            </a:pPr>
            <a:r>
              <a:rPr lang="en-US" b="true" sz="2199" i="true">
                <a:solidFill>
                  <a:srgbClr val="000000"/>
                </a:solidFill>
                <a:latin typeface="Canva Sans Bold Italics"/>
                <a:ea typeface="Canva Sans Bold Italics"/>
                <a:cs typeface="Canva Sans Bold Italics"/>
                <a:sym typeface="Canva Sans Bold Italics"/>
              </a:rPr>
              <a:t>Not because we could magically solve India’s power problems… but because one thought kept repeating in our minds:</a:t>
            </a:r>
          </a:p>
        </p:txBody>
      </p:sp>
      <p:sp>
        <p:nvSpPr>
          <p:cNvPr name="TextBox 9" id="9"/>
          <p:cNvSpPr txBox="true"/>
          <p:nvPr/>
        </p:nvSpPr>
        <p:spPr>
          <a:xfrm rot="0">
            <a:off x="3944706" y="5292097"/>
            <a:ext cx="10847375" cy="746194"/>
          </a:xfrm>
          <a:prstGeom prst="rect">
            <a:avLst/>
          </a:prstGeom>
        </p:spPr>
        <p:txBody>
          <a:bodyPr anchor="t" rtlCol="false" tIns="0" lIns="0" bIns="0" rIns="0">
            <a:spAutoFit/>
          </a:bodyPr>
          <a:lstStyle/>
          <a:p>
            <a:pPr algn="l">
              <a:lnSpc>
                <a:spcPts val="3063"/>
              </a:lnSpc>
            </a:pPr>
            <a:r>
              <a:rPr lang="en-US" b="true" sz="2199" i="true" spc="65">
                <a:solidFill>
                  <a:srgbClr val="000000"/>
                </a:solidFill>
                <a:latin typeface="Canva Sans Bold Italics"/>
                <a:ea typeface="Canva Sans Bold Italics"/>
                <a:cs typeface="Canva Sans Bold Italics"/>
                <a:sym typeface="Canva Sans Bold Italics"/>
              </a:rPr>
              <a:t>“If sunlight is free and everywhere… why is it still underused in so many rural areas?”</a:t>
            </a:r>
          </a:p>
        </p:txBody>
      </p:sp>
      <p:sp>
        <p:nvSpPr>
          <p:cNvPr name="TextBox 10" id="10"/>
          <p:cNvSpPr txBox="true"/>
          <p:nvPr/>
        </p:nvSpPr>
        <p:spPr>
          <a:xfrm rot="0">
            <a:off x="3944706" y="6212882"/>
            <a:ext cx="10847527" cy="2270194"/>
          </a:xfrm>
          <a:prstGeom prst="rect">
            <a:avLst/>
          </a:prstGeom>
        </p:spPr>
        <p:txBody>
          <a:bodyPr anchor="t" rtlCol="false" tIns="0" lIns="0" bIns="0" rIns="0">
            <a:spAutoFit/>
          </a:bodyPr>
          <a:lstStyle/>
          <a:p>
            <a:pPr algn="just">
              <a:lnSpc>
                <a:spcPts val="3063"/>
              </a:lnSpc>
            </a:pPr>
            <a:r>
              <a:rPr lang="en-US" b="true" sz="2199" i="true">
                <a:solidFill>
                  <a:srgbClr val="000000"/>
                </a:solidFill>
                <a:latin typeface="Canva Sans Bold Italics"/>
                <a:ea typeface="Canva Sans Bold Italics"/>
                <a:cs typeface="Canva Sans Bold Italics"/>
                <a:sym typeface="Canva Sans Bold Italics"/>
              </a:rPr>
              <a:t>We started thinking realistically.</a:t>
            </a:r>
          </a:p>
          <a:p>
            <a:pPr algn="just">
              <a:lnSpc>
                <a:spcPts val="3063"/>
              </a:lnSpc>
            </a:pPr>
            <a:r>
              <a:rPr lang="en-US" b="true" sz="2199" i="true">
                <a:solidFill>
                  <a:srgbClr val="000000"/>
                </a:solidFill>
                <a:latin typeface="Canva Sans Bold Italics"/>
                <a:ea typeface="Canva Sans Bold Italics"/>
                <a:cs typeface="Canva Sans Bold Italics"/>
                <a:sym typeface="Canva Sans Bold Italics"/>
              </a:rPr>
              <a:t>Solar panels are useful, but fixed ones don’t capture sunlight properly throughout the day—especially in places where every bit of power matters.</a:t>
            </a:r>
          </a:p>
          <a:p>
            <a:pPr algn="just">
              <a:lnSpc>
                <a:spcPts val="3063"/>
              </a:lnSpc>
            </a:pPr>
            <a:r>
              <a:rPr lang="en-US" b="true" sz="2199" i="true">
                <a:solidFill>
                  <a:srgbClr val="000000"/>
                </a:solidFill>
                <a:latin typeface="Canva Sans Bold Italics"/>
                <a:ea typeface="Canva Sans Bold Italics"/>
                <a:cs typeface="Canva Sans Bold Italics"/>
                <a:sym typeface="Canva Sans Bold Italics"/>
              </a:rPr>
              <a:t>We wondered if a simple, affordable, low-maintenance mechanism could help increase solar efficiency without needing technical knowledge or expensive equipment</a:t>
            </a:r>
            <a:r>
              <a:rPr lang="en-US" b="true" sz="2199" i="true">
                <a:solidFill>
                  <a:srgbClr val="000000"/>
                </a:solidFill>
                <a:latin typeface="Canva Sans Bold Italics"/>
                <a:ea typeface="Canva Sans Bold Italics"/>
                <a:cs typeface="Canva Sans Bold Italics"/>
                <a:sym typeface="Canva Sans Bold Italics"/>
              </a:rPr>
              <a:t> </a:t>
            </a:r>
            <a:r>
              <a:rPr lang="en-US" b="true" sz="2199" i="true">
                <a:solidFill>
                  <a:srgbClr val="000000"/>
                </a:solidFill>
                <a:latin typeface="Canva Sans Bold Italics"/>
                <a:ea typeface="Canva Sans Bold Italics"/>
                <a:cs typeface="Canva Sans Bold Italics"/>
                <a:sym typeface="Canva Sans Bold Italics"/>
              </a:rPr>
              <a:t>.</a:t>
            </a:r>
          </a:p>
        </p:txBody>
      </p:sp>
      <p:sp>
        <p:nvSpPr>
          <p:cNvPr name="TextBox 11" id="11"/>
          <p:cNvSpPr txBox="true"/>
          <p:nvPr/>
        </p:nvSpPr>
        <p:spPr>
          <a:xfrm rot="0">
            <a:off x="3944706" y="8809963"/>
            <a:ext cx="5450205" cy="372764"/>
          </a:xfrm>
          <a:prstGeom prst="rect">
            <a:avLst/>
          </a:prstGeom>
        </p:spPr>
        <p:txBody>
          <a:bodyPr anchor="t" rtlCol="false" tIns="0" lIns="0" bIns="0" rIns="0">
            <a:spAutoFit/>
          </a:bodyPr>
          <a:lstStyle/>
          <a:p>
            <a:pPr algn="l">
              <a:lnSpc>
                <a:spcPts val="3078"/>
              </a:lnSpc>
            </a:pPr>
            <a:r>
              <a:rPr lang="en-US" b="true" sz="2199" i="true">
                <a:solidFill>
                  <a:srgbClr val="000000"/>
                </a:solidFill>
                <a:latin typeface="Canva Sans Bold Italics"/>
                <a:ea typeface="Canva Sans Bold Italics"/>
                <a:cs typeface="Canva Sans Bold Italics"/>
                <a:sym typeface="Canva Sans Bold Italics"/>
              </a:rPr>
              <a:t>And that’s where our motivation began.</a:t>
            </a:r>
          </a:p>
        </p:txBody>
      </p:sp>
      <p:sp>
        <p:nvSpPr>
          <p:cNvPr name="TextBox 12" id="12"/>
          <p:cNvSpPr txBox="true"/>
          <p:nvPr/>
        </p:nvSpPr>
        <p:spPr>
          <a:xfrm rot="0">
            <a:off x="6269820" y="10128"/>
            <a:ext cx="5243751" cy="1334070"/>
          </a:xfrm>
          <a:prstGeom prst="rect">
            <a:avLst/>
          </a:prstGeom>
        </p:spPr>
        <p:txBody>
          <a:bodyPr anchor="t" rtlCol="false" tIns="0" lIns="0" bIns="0" rIns="0">
            <a:spAutoFit/>
          </a:bodyPr>
          <a:lstStyle/>
          <a:p>
            <a:pPr algn="ctr">
              <a:lnSpc>
                <a:spcPts val="10993"/>
              </a:lnSpc>
            </a:pPr>
            <a:r>
              <a:rPr lang="en-US" sz="7852">
                <a:solidFill>
                  <a:srgbClr val="4F4126"/>
                </a:solidFill>
                <a:latin typeface="Hammersmith One"/>
                <a:ea typeface="Hammersmith One"/>
                <a:cs typeface="Hammersmith One"/>
                <a:sym typeface="Hammersmith One"/>
              </a:rPr>
              <a:t>M</a:t>
            </a:r>
            <a:r>
              <a:rPr lang="en-US" sz="7852">
                <a:solidFill>
                  <a:srgbClr val="4F4126"/>
                </a:solidFill>
                <a:latin typeface="Hammersmith One"/>
                <a:ea typeface="Hammersmith One"/>
                <a:cs typeface="Hammersmith One"/>
                <a:sym typeface="Hammersmith One"/>
              </a:rPr>
              <a:t>otivation </a:t>
            </a:r>
          </a:p>
        </p:txBody>
      </p:sp>
      <p:grpSp>
        <p:nvGrpSpPr>
          <p:cNvPr name="Group 13" id="13"/>
          <p:cNvGrpSpPr/>
          <p:nvPr/>
        </p:nvGrpSpPr>
        <p:grpSpPr>
          <a:xfrm rot="0">
            <a:off x="-2057400" y="-691769"/>
            <a:ext cx="3086100" cy="30861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D986C"/>
            </a:solidFill>
          </p:spPr>
        </p:sp>
        <p:sp>
          <p:nvSpPr>
            <p:cNvPr name="TextBox 15" id="15"/>
            <p:cNvSpPr txBox="true"/>
            <p:nvPr/>
          </p:nvSpPr>
          <p:spPr>
            <a:xfrm>
              <a:off x="0" y="-47625"/>
              <a:ext cx="812800" cy="860425"/>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205740" y="9805001"/>
            <a:ext cx="3086100" cy="30861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683A12"/>
            </a:solidFill>
          </p:spPr>
        </p:sp>
        <p:sp>
          <p:nvSpPr>
            <p:cNvPr name="TextBox 18" id="18"/>
            <p:cNvSpPr txBox="true"/>
            <p:nvPr/>
          </p:nvSpPr>
          <p:spPr>
            <a:xfrm>
              <a:off x="0" y="-47625"/>
              <a:ext cx="812800" cy="8604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0">
            <a:off x="15987664" y="9241241"/>
            <a:ext cx="3086100" cy="308610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D986C"/>
            </a:solidFill>
          </p:spPr>
        </p:sp>
        <p:sp>
          <p:nvSpPr>
            <p:cNvPr name="TextBox 21" id="21"/>
            <p:cNvSpPr txBox="true"/>
            <p:nvPr/>
          </p:nvSpPr>
          <p:spPr>
            <a:xfrm>
              <a:off x="0" y="-47625"/>
              <a:ext cx="812800" cy="860425"/>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17259300" y="7863545"/>
            <a:ext cx="3086100" cy="308610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D986C"/>
            </a:solidFill>
          </p:spPr>
        </p:sp>
        <p:sp>
          <p:nvSpPr>
            <p:cNvPr name="TextBox 24" id="24"/>
            <p:cNvSpPr txBox="true"/>
            <p:nvPr/>
          </p:nvSpPr>
          <p:spPr>
            <a:xfrm>
              <a:off x="0" y="-47625"/>
              <a:ext cx="812800" cy="860425"/>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0">
            <a:off x="15716250" y="-2572995"/>
            <a:ext cx="3086100" cy="308610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683A12"/>
            </a:solidFill>
          </p:spPr>
        </p:sp>
        <p:sp>
          <p:nvSpPr>
            <p:cNvPr name="TextBox 27" id="27"/>
            <p:cNvSpPr txBox="true"/>
            <p:nvPr/>
          </p:nvSpPr>
          <p:spPr>
            <a:xfrm>
              <a:off x="0" y="-47625"/>
              <a:ext cx="812800" cy="8604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06740" y="0"/>
            <a:ext cx="10081260" cy="10287000"/>
            <a:chOff x="0" y="0"/>
            <a:chExt cx="10081260" cy="10287000"/>
          </a:xfrm>
        </p:grpSpPr>
        <p:sp>
          <p:nvSpPr>
            <p:cNvPr name="Freeform 3" id="3"/>
            <p:cNvSpPr/>
            <p:nvPr/>
          </p:nvSpPr>
          <p:spPr>
            <a:xfrm flipH="false" flipV="false" rot="0">
              <a:off x="0" y="0"/>
              <a:ext cx="10081260" cy="10287000"/>
            </a:xfrm>
            <a:custGeom>
              <a:avLst/>
              <a:gdLst/>
              <a:ahLst/>
              <a:cxnLst/>
              <a:rect r="r" b="b" t="t" l="l"/>
              <a:pathLst>
                <a:path h="10287000" w="10081260">
                  <a:moveTo>
                    <a:pt x="0" y="0"/>
                  </a:moveTo>
                  <a:lnTo>
                    <a:pt x="0" y="10287000"/>
                  </a:lnTo>
                  <a:lnTo>
                    <a:pt x="10081260" y="10287000"/>
                  </a:lnTo>
                  <a:lnTo>
                    <a:pt x="10081260" y="0"/>
                  </a:lnTo>
                  <a:close/>
                </a:path>
              </a:pathLst>
            </a:custGeom>
            <a:solidFill>
              <a:srgbClr val="FFF6E3"/>
            </a:solidFill>
          </p:spPr>
        </p:sp>
      </p:grpSp>
      <p:grpSp>
        <p:nvGrpSpPr>
          <p:cNvPr name="Group 4" id="4"/>
          <p:cNvGrpSpPr/>
          <p:nvPr/>
        </p:nvGrpSpPr>
        <p:grpSpPr>
          <a:xfrm rot="0">
            <a:off x="9144000" y="5215633"/>
            <a:ext cx="2947959" cy="2947959"/>
            <a:chOff x="0" y="0"/>
            <a:chExt cx="3930612" cy="3930612"/>
          </a:xfrm>
        </p:grpSpPr>
        <p:sp>
          <p:nvSpPr>
            <p:cNvPr name="Freeform 5" id="5"/>
            <p:cNvSpPr/>
            <p:nvPr/>
          </p:nvSpPr>
          <p:spPr>
            <a:xfrm flipH="false" flipV="false" rot="0">
              <a:off x="0" y="0"/>
              <a:ext cx="3930650" cy="3930650"/>
            </a:xfrm>
            <a:custGeom>
              <a:avLst/>
              <a:gdLst/>
              <a:ahLst/>
              <a:cxnLst/>
              <a:rect r="r" b="b" t="t" l="l"/>
              <a:pathLst>
                <a:path h="3930650" w="3930650">
                  <a:moveTo>
                    <a:pt x="0" y="0"/>
                  </a:moveTo>
                  <a:lnTo>
                    <a:pt x="3930650" y="0"/>
                  </a:lnTo>
                  <a:lnTo>
                    <a:pt x="3930650" y="3930650"/>
                  </a:lnTo>
                  <a:lnTo>
                    <a:pt x="0" y="3930650"/>
                  </a:lnTo>
                  <a:lnTo>
                    <a:pt x="0" y="0"/>
                  </a:lnTo>
                  <a:close/>
                </a:path>
              </a:pathLst>
            </a:custGeom>
            <a:blipFill>
              <a:blip r:embed="rId2"/>
              <a:stretch>
                <a:fillRect l="-574" t="0" r="-596" b="0"/>
              </a:stretch>
            </a:blipFill>
          </p:spPr>
        </p:sp>
      </p:grpSp>
      <p:grpSp>
        <p:nvGrpSpPr>
          <p:cNvPr name="Group 6" id="6"/>
          <p:cNvGrpSpPr/>
          <p:nvPr/>
        </p:nvGrpSpPr>
        <p:grpSpPr>
          <a:xfrm rot="0">
            <a:off x="12901736" y="5215633"/>
            <a:ext cx="4959067" cy="2947959"/>
            <a:chOff x="0" y="0"/>
            <a:chExt cx="6612090" cy="3930612"/>
          </a:xfrm>
        </p:grpSpPr>
        <p:sp>
          <p:nvSpPr>
            <p:cNvPr name="Freeform 7" id="7"/>
            <p:cNvSpPr/>
            <p:nvPr/>
          </p:nvSpPr>
          <p:spPr>
            <a:xfrm flipH="false" flipV="false" rot="0">
              <a:off x="0" y="0"/>
              <a:ext cx="6612128" cy="3930650"/>
            </a:xfrm>
            <a:custGeom>
              <a:avLst/>
              <a:gdLst/>
              <a:ahLst/>
              <a:cxnLst/>
              <a:rect r="r" b="b" t="t" l="l"/>
              <a:pathLst>
                <a:path h="3930650" w="6612128">
                  <a:moveTo>
                    <a:pt x="0" y="0"/>
                  </a:moveTo>
                  <a:lnTo>
                    <a:pt x="6612128" y="0"/>
                  </a:lnTo>
                  <a:lnTo>
                    <a:pt x="6612128" y="3930650"/>
                  </a:lnTo>
                  <a:lnTo>
                    <a:pt x="0" y="3930650"/>
                  </a:lnTo>
                  <a:lnTo>
                    <a:pt x="0" y="0"/>
                  </a:lnTo>
                  <a:close/>
                </a:path>
              </a:pathLst>
            </a:custGeom>
            <a:blipFill>
              <a:blip r:embed="rId3"/>
              <a:stretch>
                <a:fillRect l="0" t="-1502" r="-82" b="-1621"/>
              </a:stretch>
            </a:blipFill>
          </p:spPr>
        </p:sp>
      </p:grpSp>
      <p:grpSp>
        <p:nvGrpSpPr>
          <p:cNvPr name="Group 8" id="8"/>
          <p:cNvGrpSpPr/>
          <p:nvPr/>
        </p:nvGrpSpPr>
        <p:grpSpPr>
          <a:xfrm rot="0">
            <a:off x="13302729" y="1028700"/>
            <a:ext cx="4157081" cy="2947959"/>
            <a:chOff x="0" y="0"/>
            <a:chExt cx="5542775" cy="3930612"/>
          </a:xfrm>
        </p:grpSpPr>
        <p:sp>
          <p:nvSpPr>
            <p:cNvPr name="Freeform 9" id="9"/>
            <p:cNvSpPr/>
            <p:nvPr/>
          </p:nvSpPr>
          <p:spPr>
            <a:xfrm flipH="false" flipV="false" rot="0">
              <a:off x="0" y="0"/>
              <a:ext cx="5542788" cy="3930650"/>
            </a:xfrm>
            <a:custGeom>
              <a:avLst/>
              <a:gdLst/>
              <a:ahLst/>
              <a:cxnLst/>
              <a:rect r="r" b="b" t="t" l="l"/>
              <a:pathLst>
                <a:path h="3930650" w="5542788">
                  <a:moveTo>
                    <a:pt x="0" y="0"/>
                  </a:moveTo>
                  <a:lnTo>
                    <a:pt x="5542788" y="0"/>
                  </a:lnTo>
                  <a:lnTo>
                    <a:pt x="5542788" y="3930650"/>
                  </a:lnTo>
                  <a:lnTo>
                    <a:pt x="0" y="3930650"/>
                  </a:lnTo>
                  <a:lnTo>
                    <a:pt x="0" y="0"/>
                  </a:lnTo>
                  <a:close/>
                </a:path>
              </a:pathLst>
            </a:custGeom>
            <a:blipFill>
              <a:blip r:embed="rId4"/>
              <a:stretch>
                <a:fillRect l="0" t="-4218" r="0" b="-77"/>
              </a:stretch>
            </a:blipFill>
          </p:spPr>
        </p:sp>
      </p:grpSp>
      <p:grpSp>
        <p:nvGrpSpPr>
          <p:cNvPr name="Group 10" id="10"/>
          <p:cNvGrpSpPr/>
          <p:nvPr/>
        </p:nvGrpSpPr>
        <p:grpSpPr>
          <a:xfrm rot="0">
            <a:off x="9144000" y="1042997"/>
            <a:ext cx="2947959" cy="2947959"/>
            <a:chOff x="0" y="0"/>
            <a:chExt cx="3930612" cy="3930612"/>
          </a:xfrm>
        </p:grpSpPr>
        <p:sp>
          <p:nvSpPr>
            <p:cNvPr name="Freeform 11" id="11"/>
            <p:cNvSpPr/>
            <p:nvPr/>
          </p:nvSpPr>
          <p:spPr>
            <a:xfrm flipH="false" flipV="false" rot="0">
              <a:off x="0" y="0"/>
              <a:ext cx="3930650" cy="3930650"/>
            </a:xfrm>
            <a:custGeom>
              <a:avLst/>
              <a:gdLst/>
              <a:ahLst/>
              <a:cxnLst/>
              <a:rect r="r" b="b" t="t" l="l"/>
              <a:pathLst>
                <a:path h="3930650" w="3930650">
                  <a:moveTo>
                    <a:pt x="0" y="0"/>
                  </a:moveTo>
                  <a:lnTo>
                    <a:pt x="3930650" y="0"/>
                  </a:lnTo>
                  <a:lnTo>
                    <a:pt x="3930650" y="3930650"/>
                  </a:lnTo>
                  <a:lnTo>
                    <a:pt x="0" y="3930650"/>
                  </a:lnTo>
                  <a:lnTo>
                    <a:pt x="0" y="0"/>
                  </a:lnTo>
                  <a:close/>
                </a:path>
              </a:pathLst>
            </a:custGeom>
            <a:blipFill>
              <a:blip r:embed="rId5"/>
              <a:stretch>
                <a:fillRect l="-1076" t="0" r="-1265" b="0"/>
              </a:stretch>
            </a:blipFill>
          </p:spPr>
        </p:sp>
      </p:grpSp>
      <p:sp>
        <p:nvSpPr>
          <p:cNvPr name="TextBox 12" id="12"/>
          <p:cNvSpPr txBox="true"/>
          <p:nvPr/>
        </p:nvSpPr>
        <p:spPr>
          <a:xfrm rot="0">
            <a:off x="859214" y="263767"/>
            <a:ext cx="3330178" cy="721995"/>
          </a:xfrm>
          <a:prstGeom prst="rect">
            <a:avLst/>
          </a:prstGeom>
        </p:spPr>
        <p:txBody>
          <a:bodyPr anchor="t" rtlCol="false" tIns="0" lIns="0" bIns="0" rIns="0">
            <a:spAutoFit/>
          </a:bodyPr>
          <a:lstStyle/>
          <a:p>
            <a:pPr algn="l">
              <a:lnSpc>
                <a:spcPts val="5880"/>
              </a:lnSpc>
            </a:pPr>
            <a:r>
              <a:rPr lang="en-US" sz="4200">
                <a:solidFill>
                  <a:srgbClr val="000000"/>
                </a:solidFill>
                <a:latin typeface="Hammersmith One"/>
                <a:ea typeface="Hammersmith One"/>
                <a:cs typeface="Hammersmith One"/>
                <a:sym typeface="Hammersmith One"/>
              </a:rPr>
              <a:t>COMPONENTS</a:t>
            </a:r>
          </a:p>
        </p:txBody>
      </p:sp>
      <p:sp>
        <p:nvSpPr>
          <p:cNvPr name="TextBox 13" id="13"/>
          <p:cNvSpPr txBox="true"/>
          <p:nvPr/>
        </p:nvSpPr>
        <p:spPr>
          <a:xfrm rot="0">
            <a:off x="859214" y="957272"/>
            <a:ext cx="3190551" cy="721995"/>
          </a:xfrm>
          <a:prstGeom prst="rect">
            <a:avLst/>
          </a:prstGeom>
        </p:spPr>
        <p:txBody>
          <a:bodyPr anchor="t" rtlCol="false" tIns="0" lIns="0" bIns="0" rIns="0">
            <a:spAutoFit/>
          </a:bodyPr>
          <a:lstStyle/>
          <a:p>
            <a:pPr algn="l">
              <a:lnSpc>
                <a:spcPts val="5879"/>
              </a:lnSpc>
            </a:pPr>
            <a:r>
              <a:rPr lang="en-US" sz="4199">
                <a:solidFill>
                  <a:srgbClr val="000000"/>
                </a:solidFill>
                <a:latin typeface="Hammersmith One"/>
                <a:ea typeface="Hammersmith One"/>
                <a:cs typeface="Hammersmith One"/>
                <a:sym typeface="Hammersmith One"/>
              </a:rPr>
              <a:t>USED :</a:t>
            </a:r>
            <a:r>
              <a:rPr lang="en-US" sz="4199">
                <a:solidFill>
                  <a:srgbClr val="000000"/>
                </a:solidFill>
                <a:latin typeface="Hammersmith One"/>
                <a:ea typeface="Hammersmith One"/>
                <a:cs typeface="Hammersmith One"/>
                <a:sym typeface="Hammersmith One"/>
              </a:rPr>
              <a:t> </a:t>
            </a:r>
          </a:p>
        </p:txBody>
      </p:sp>
      <p:sp>
        <p:nvSpPr>
          <p:cNvPr name="TextBox 14" id="14"/>
          <p:cNvSpPr txBox="true"/>
          <p:nvPr/>
        </p:nvSpPr>
        <p:spPr>
          <a:xfrm rot="0">
            <a:off x="670560" y="2163589"/>
            <a:ext cx="5399722" cy="6272474"/>
          </a:xfrm>
          <a:prstGeom prst="rect">
            <a:avLst/>
          </a:prstGeom>
        </p:spPr>
        <p:txBody>
          <a:bodyPr anchor="t" rtlCol="false" tIns="0" lIns="0" bIns="0" rIns="0">
            <a:spAutoFit/>
          </a:bodyPr>
          <a:lstStyle/>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ARDUINO UNO(CONTROLLER) </a:t>
            </a:r>
          </a:p>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SOLAR</a:t>
            </a:r>
            <a:r>
              <a:rPr lang="en-US" sz="3255">
                <a:solidFill>
                  <a:srgbClr val="000000"/>
                </a:solidFill>
                <a:latin typeface="Clear Sans"/>
                <a:ea typeface="Clear Sans"/>
                <a:cs typeface="Clear Sans"/>
                <a:sym typeface="Clear Sans"/>
              </a:rPr>
              <a:t> </a:t>
            </a:r>
            <a:r>
              <a:rPr lang="en-US" sz="3255">
                <a:solidFill>
                  <a:srgbClr val="000000"/>
                </a:solidFill>
                <a:latin typeface="Clear Sans"/>
                <a:ea typeface="Clear Sans"/>
                <a:cs typeface="Clear Sans"/>
                <a:sym typeface="Clear Sans"/>
              </a:rPr>
              <a:t>PANEL</a:t>
            </a:r>
          </a:p>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2 PHOTO RESISTORS FOR SUNLIGHT DETECTION</a:t>
            </a:r>
          </a:p>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1 SERVO MOTORS FOR DUAL- AXIS MOVEMENT</a:t>
            </a:r>
          </a:p>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BREADBOARD AND JUMPER WIRES</a:t>
            </a:r>
          </a:p>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POWER SUPPLY</a:t>
            </a:r>
          </a:p>
          <a:p>
            <a:pPr algn="l" marL="702861" indent="-351431" lvl="1">
              <a:lnSpc>
                <a:spcPts val="4167"/>
              </a:lnSpc>
              <a:buFont typeface="Arial"/>
              <a:buChar char="•"/>
            </a:pPr>
            <a:r>
              <a:rPr lang="en-US" sz="3255">
                <a:solidFill>
                  <a:srgbClr val="000000"/>
                </a:solidFill>
                <a:latin typeface="Clear Sans"/>
                <a:ea typeface="Clear Sans"/>
                <a:cs typeface="Clear Sans"/>
                <a:sym typeface="Clear Sans"/>
              </a:rPr>
              <a:t>MOUNTING FRAME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D986C"/>
        </a:solidFill>
      </p:bgPr>
    </p:bg>
    <p:spTree>
      <p:nvGrpSpPr>
        <p:cNvPr id="1" name=""/>
        <p:cNvGrpSpPr/>
        <p:nvPr/>
      </p:nvGrpSpPr>
      <p:grpSpPr>
        <a:xfrm>
          <a:off x="0" y="0"/>
          <a:ext cx="0" cy="0"/>
          <a:chOff x="0" y="0"/>
          <a:chExt cx="0" cy="0"/>
        </a:xfrm>
      </p:grpSpPr>
      <p:grpSp>
        <p:nvGrpSpPr>
          <p:cNvPr name="Group 2" id="2"/>
          <p:cNvGrpSpPr/>
          <p:nvPr/>
        </p:nvGrpSpPr>
        <p:grpSpPr>
          <a:xfrm rot="0">
            <a:off x="0" y="0"/>
            <a:ext cx="8506093" cy="10287000"/>
            <a:chOff x="0" y="0"/>
            <a:chExt cx="8506093" cy="10287000"/>
          </a:xfrm>
        </p:grpSpPr>
        <p:sp>
          <p:nvSpPr>
            <p:cNvPr name="Freeform 3" id="3"/>
            <p:cNvSpPr/>
            <p:nvPr/>
          </p:nvSpPr>
          <p:spPr>
            <a:xfrm flipH="false" flipV="false" rot="0">
              <a:off x="0" y="0"/>
              <a:ext cx="8506094" cy="10287000"/>
            </a:xfrm>
            <a:custGeom>
              <a:avLst/>
              <a:gdLst/>
              <a:ahLst/>
              <a:cxnLst/>
              <a:rect r="r" b="b" t="t" l="l"/>
              <a:pathLst>
                <a:path h="10287000" w="8506094">
                  <a:moveTo>
                    <a:pt x="0" y="0"/>
                  </a:moveTo>
                  <a:lnTo>
                    <a:pt x="0" y="10287000"/>
                  </a:lnTo>
                  <a:lnTo>
                    <a:pt x="8506094" y="10287000"/>
                  </a:lnTo>
                  <a:lnTo>
                    <a:pt x="8506094" y="0"/>
                  </a:lnTo>
                  <a:close/>
                </a:path>
              </a:pathLst>
            </a:custGeom>
            <a:solidFill>
              <a:srgbClr val="FFF6E3"/>
            </a:solidFill>
          </p:spPr>
        </p:sp>
      </p:grpSp>
      <p:grpSp>
        <p:nvGrpSpPr>
          <p:cNvPr name="Group 4" id="4"/>
          <p:cNvGrpSpPr/>
          <p:nvPr/>
        </p:nvGrpSpPr>
        <p:grpSpPr>
          <a:xfrm rot="0">
            <a:off x="8934528" y="1411699"/>
            <a:ext cx="8897889" cy="7334715"/>
            <a:chOff x="0" y="0"/>
            <a:chExt cx="1082500" cy="892327"/>
          </a:xfrm>
        </p:grpSpPr>
        <p:sp>
          <p:nvSpPr>
            <p:cNvPr name="Freeform 5" id="5"/>
            <p:cNvSpPr/>
            <p:nvPr/>
          </p:nvSpPr>
          <p:spPr>
            <a:xfrm flipH="false" flipV="false" rot="6000">
              <a:off x="-778" y="-944"/>
              <a:ext cx="1084056" cy="894215"/>
            </a:xfrm>
            <a:custGeom>
              <a:avLst/>
              <a:gdLst/>
              <a:ahLst/>
              <a:cxnLst/>
              <a:rect r="r" b="b" t="t" l="l"/>
              <a:pathLst>
                <a:path h="894215" w="1084056">
                  <a:moveTo>
                    <a:pt x="0" y="1889"/>
                  </a:moveTo>
                  <a:lnTo>
                    <a:pt x="1082499" y="0"/>
                  </a:lnTo>
                  <a:lnTo>
                    <a:pt x="1084056" y="892326"/>
                  </a:lnTo>
                  <a:lnTo>
                    <a:pt x="1558" y="894215"/>
                  </a:lnTo>
                  <a:close/>
                </a:path>
              </a:pathLst>
            </a:custGeom>
            <a:blipFill>
              <a:blip r:embed="rId2"/>
              <a:stretch>
                <a:fillRect l="-16055" t="0" r="-35347" b="0"/>
              </a:stretch>
            </a:blipFill>
          </p:spPr>
        </p:sp>
      </p:grpSp>
      <p:sp>
        <p:nvSpPr>
          <p:cNvPr name="TextBox 6" id="6"/>
          <p:cNvSpPr txBox="true"/>
          <p:nvPr/>
        </p:nvSpPr>
        <p:spPr>
          <a:xfrm rot="0">
            <a:off x="734239" y="507905"/>
            <a:ext cx="6101358" cy="903794"/>
          </a:xfrm>
          <a:prstGeom prst="rect">
            <a:avLst/>
          </a:prstGeom>
        </p:spPr>
        <p:txBody>
          <a:bodyPr anchor="t" rtlCol="false" tIns="0" lIns="0" bIns="0" rIns="0">
            <a:spAutoFit/>
          </a:bodyPr>
          <a:lstStyle/>
          <a:p>
            <a:pPr algn="l">
              <a:lnSpc>
                <a:spcPts val="7409"/>
              </a:lnSpc>
            </a:pPr>
            <a:r>
              <a:rPr lang="en-US" sz="5292">
                <a:solidFill>
                  <a:srgbClr val="000000"/>
                </a:solidFill>
                <a:latin typeface="Hammersmith One"/>
                <a:ea typeface="Hammersmith One"/>
                <a:cs typeface="Hammersmith One"/>
                <a:sym typeface="Hammersmith One"/>
              </a:rPr>
              <a:t>CIRCUIT ASSEMBLY :</a:t>
            </a:r>
          </a:p>
        </p:txBody>
      </p:sp>
      <p:sp>
        <p:nvSpPr>
          <p:cNvPr name="TextBox 7" id="7"/>
          <p:cNvSpPr txBox="true"/>
          <p:nvPr/>
        </p:nvSpPr>
        <p:spPr>
          <a:xfrm rot="0">
            <a:off x="734239" y="2037039"/>
            <a:ext cx="6504718" cy="6292019"/>
          </a:xfrm>
          <a:prstGeom prst="rect">
            <a:avLst/>
          </a:prstGeom>
        </p:spPr>
        <p:txBody>
          <a:bodyPr anchor="t" rtlCol="false" tIns="0" lIns="0" bIns="0" rIns="0">
            <a:spAutoFit/>
          </a:bodyPr>
          <a:lstStyle/>
          <a:p>
            <a:pPr algn="l" marL="600789" indent="-300394" lvl="1">
              <a:lnSpc>
                <a:spcPts val="3895"/>
              </a:lnSpc>
              <a:buFont typeface="Arial"/>
              <a:buChar char="•"/>
            </a:pPr>
            <a:r>
              <a:rPr lang="en-US" sz="2782">
                <a:solidFill>
                  <a:srgbClr val="000000"/>
                </a:solidFill>
                <a:latin typeface="Canva Sans"/>
                <a:ea typeface="Canva Sans"/>
                <a:cs typeface="Canva Sans"/>
                <a:sym typeface="Canva Sans"/>
              </a:rPr>
              <a:t>Connect LDR sensors to the Arduino analog input pins.</a:t>
            </a:r>
          </a:p>
          <a:p>
            <a:pPr algn="l" marL="600789" indent="-300394" lvl="1">
              <a:lnSpc>
                <a:spcPts val="3895"/>
              </a:lnSpc>
              <a:buFont typeface="Arial"/>
              <a:buChar char="•"/>
            </a:pPr>
            <a:r>
              <a:rPr lang="en-US" sz="2782">
                <a:solidFill>
                  <a:srgbClr val="000000"/>
                </a:solidFill>
                <a:latin typeface="Canva Sans"/>
                <a:ea typeface="Canva Sans"/>
                <a:cs typeface="Canva Sans"/>
                <a:sym typeface="Canva Sans"/>
              </a:rPr>
              <a:t>Interface servo motors with PWM digital output pins.</a:t>
            </a:r>
          </a:p>
          <a:p>
            <a:pPr algn="l" marL="600789" indent="-300394" lvl="1">
              <a:lnSpc>
                <a:spcPts val="3895"/>
              </a:lnSpc>
              <a:buFont typeface="Arial"/>
              <a:buChar char="•"/>
            </a:pPr>
            <a:r>
              <a:rPr lang="en-US" sz="2782">
                <a:solidFill>
                  <a:srgbClr val="000000"/>
                </a:solidFill>
                <a:latin typeface="Canva Sans"/>
                <a:ea typeface="Canva Sans"/>
                <a:cs typeface="Canva Sans"/>
                <a:sym typeface="Canva Sans"/>
              </a:rPr>
              <a:t>Use push-buttons to switch between automatic and manual operating modes.</a:t>
            </a:r>
          </a:p>
          <a:p>
            <a:pPr algn="l" marL="600789" indent="-300394" lvl="1">
              <a:lnSpc>
                <a:spcPts val="3895"/>
              </a:lnSpc>
              <a:buFont typeface="Arial"/>
              <a:buChar char="•"/>
            </a:pPr>
            <a:r>
              <a:rPr lang="en-US" sz="2782">
                <a:solidFill>
                  <a:srgbClr val="000000"/>
                </a:solidFill>
                <a:latin typeface="Canva Sans"/>
                <a:ea typeface="Canva Sans"/>
                <a:cs typeface="Canva Sans"/>
                <a:sym typeface="Canva Sans"/>
              </a:rPr>
              <a:t>Mount the solar panel and sensors securely on the frame for stable alignment.</a:t>
            </a:r>
          </a:p>
          <a:p>
            <a:pPr algn="l" marL="600789" indent="-300394" lvl="1">
              <a:lnSpc>
                <a:spcPts val="3895"/>
              </a:lnSpc>
              <a:buFont typeface="Arial"/>
              <a:buChar char="•"/>
            </a:pPr>
            <a:r>
              <a:rPr lang="en-US" sz="2782">
                <a:solidFill>
                  <a:srgbClr val="000000"/>
                </a:solidFill>
                <a:latin typeface="Canva Sans"/>
                <a:ea typeface="Canva Sans"/>
                <a:cs typeface="Canva Sans"/>
                <a:sym typeface="Canva Sans"/>
              </a:rPr>
              <a:t>Ensure proper wiring connections for reliable signal transmission and safe operation.</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EEDF"/>
        </a:solidFill>
      </p:bgPr>
    </p:bg>
    <p:spTree>
      <p:nvGrpSpPr>
        <p:cNvPr id="1" name=""/>
        <p:cNvGrpSpPr/>
        <p:nvPr/>
      </p:nvGrpSpPr>
      <p:grpSpPr>
        <a:xfrm>
          <a:off x="0" y="0"/>
          <a:ext cx="0" cy="0"/>
          <a:chOff x="0" y="0"/>
          <a:chExt cx="0" cy="0"/>
        </a:xfrm>
      </p:grpSpPr>
      <p:grpSp>
        <p:nvGrpSpPr>
          <p:cNvPr name="Group 2" id="2"/>
          <p:cNvGrpSpPr/>
          <p:nvPr/>
        </p:nvGrpSpPr>
        <p:grpSpPr>
          <a:xfrm rot="0">
            <a:off x="-115658" y="261952"/>
            <a:ext cx="9658350" cy="11902887"/>
            <a:chOff x="0" y="0"/>
            <a:chExt cx="2543763" cy="3134917"/>
          </a:xfrm>
        </p:grpSpPr>
        <p:sp>
          <p:nvSpPr>
            <p:cNvPr name="Freeform 3" id="3"/>
            <p:cNvSpPr/>
            <p:nvPr/>
          </p:nvSpPr>
          <p:spPr>
            <a:xfrm flipH="false" flipV="false" rot="0">
              <a:off x="0" y="0"/>
              <a:ext cx="2543763" cy="3134917"/>
            </a:xfrm>
            <a:custGeom>
              <a:avLst/>
              <a:gdLst/>
              <a:ahLst/>
              <a:cxnLst/>
              <a:rect r="r" b="b" t="t" l="l"/>
              <a:pathLst>
                <a:path h="3134917" w="2543763">
                  <a:moveTo>
                    <a:pt x="0" y="0"/>
                  </a:moveTo>
                  <a:lnTo>
                    <a:pt x="2543763" y="0"/>
                  </a:lnTo>
                  <a:lnTo>
                    <a:pt x="2543763" y="3134917"/>
                  </a:lnTo>
                  <a:lnTo>
                    <a:pt x="0" y="3134917"/>
                  </a:lnTo>
                  <a:close/>
                </a:path>
              </a:pathLst>
            </a:custGeom>
            <a:solidFill>
              <a:srgbClr val="8B5E3C"/>
            </a:solidFill>
          </p:spPr>
        </p:sp>
        <p:sp>
          <p:nvSpPr>
            <p:cNvPr name="TextBox 4" id="4"/>
            <p:cNvSpPr txBox="true"/>
            <p:nvPr/>
          </p:nvSpPr>
          <p:spPr>
            <a:xfrm>
              <a:off x="0" y="-47625"/>
              <a:ext cx="2543763" cy="3182542"/>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5035398" y="613379"/>
            <a:ext cx="9123435" cy="830643"/>
            <a:chOff x="0" y="0"/>
            <a:chExt cx="2402880" cy="218770"/>
          </a:xfrm>
        </p:grpSpPr>
        <p:sp>
          <p:nvSpPr>
            <p:cNvPr name="Freeform 6" id="6"/>
            <p:cNvSpPr/>
            <p:nvPr/>
          </p:nvSpPr>
          <p:spPr>
            <a:xfrm flipH="false" flipV="false" rot="0">
              <a:off x="0" y="0"/>
              <a:ext cx="2402880" cy="218770"/>
            </a:xfrm>
            <a:custGeom>
              <a:avLst/>
              <a:gdLst/>
              <a:ahLst/>
              <a:cxnLst/>
              <a:rect r="r" b="b" t="t" l="l"/>
              <a:pathLst>
                <a:path h="218770" w="2402880">
                  <a:moveTo>
                    <a:pt x="0" y="0"/>
                  </a:moveTo>
                  <a:lnTo>
                    <a:pt x="2402880" y="0"/>
                  </a:lnTo>
                  <a:lnTo>
                    <a:pt x="2402880" y="218770"/>
                  </a:lnTo>
                  <a:lnTo>
                    <a:pt x="0" y="218770"/>
                  </a:lnTo>
                  <a:close/>
                </a:path>
              </a:pathLst>
            </a:custGeom>
            <a:solidFill>
              <a:srgbClr val="B07A52"/>
            </a:solidFill>
          </p:spPr>
        </p:sp>
        <p:sp>
          <p:nvSpPr>
            <p:cNvPr name="TextBox 7" id="7"/>
            <p:cNvSpPr txBox="true"/>
            <p:nvPr/>
          </p:nvSpPr>
          <p:spPr>
            <a:xfrm>
              <a:off x="0" y="-47625"/>
              <a:ext cx="2402880" cy="266395"/>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5242338" y="799367"/>
            <a:ext cx="8709555" cy="420567"/>
          </a:xfrm>
          <a:prstGeom prst="rect">
            <a:avLst/>
          </a:prstGeom>
        </p:spPr>
        <p:txBody>
          <a:bodyPr anchor="t" rtlCol="false" tIns="0" lIns="0" bIns="0" rIns="0">
            <a:spAutoFit/>
          </a:bodyPr>
          <a:lstStyle/>
          <a:p>
            <a:pPr algn="l">
              <a:lnSpc>
                <a:spcPts val="3499"/>
              </a:lnSpc>
            </a:pPr>
            <a:r>
              <a:rPr lang="en-US" b="true" sz="2499">
                <a:solidFill>
                  <a:srgbClr val="FFFFFF"/>
                </a:solidFill>
                <a:latin typeface="Montserrat 1 Bold"/>
                <a:ea typeface="Montserrat 1 Bold"/>
                <a:cs typeface="Montserrat 1 Bold"/>
                <a:sym typeface="Montserrat 1 Bold"/>
              </a:rPr>
              <a:t>Role of PID Controller in Sun-Tracking Solar System</a:t>
            </a:r>
          </a:p>
        </p:txBody>
      </p:sp>
      <p:sp>
        <p:nvSpPr>
          <p:cNvPr name="TextBox 9" id="9"/>
          <p:cNvSpPr txBox="true"/>
          <p:nvPr/>
        </p:nvSpPr>
        <p:spPr>
          <a:xfrm rot="0">
            <a:off x="1859994" y="1893229"/>
            <a:ext cx="4909661" cy="771525"/>
          </a:xfrm>
          <a:prstGeom prst="rect">
            <a:avLst/>
          </a:prstGeom>
        </p:spPr>
        <p:txBody>
          <a:bodyPr anchor="t" rtlCol="false" tIns="0" lIns="0" bIns="0" rIns="0">
            <a:spAutoFit/>
          </a:bodyPr>
          <a:lstStyle/>
          <a:p>
            <a:pPr algn="ctr">
              <a:lnSpc>
                <a:spcPts val="6300"/>
              </a:lnSpc>
            </a:pPr>
            <a:r>
              <a:rPr lang="en-US" sz="4500" b="true">
                <a:solidFill>
                  <a:srgbClr val="152247"/>
                </a:solidFill>
                <a:latin typeface="Canva Sans Bold"/>
                <a:ea typeface="Canva Sans Bold"/>
                <a:cs typeface="Canva Sans Bold"/>
                <a:sym typeface="Canva Sans Bold"/>
              </a:rPr>
              <a:t>Working Principle</a:t>
            </a:r>
          </a:p>
        </p:txBody>
      </p:sp>
      <p:sp>
        <p:nvSpPr>
          <p:cNvPr name="TextBox 10" id="10"/>
          <p:cNvSpPr txBox="true"/>
          <p:nvPr/>
        </p:nvSpPr>
        <p:spPr>
          <a:xfrm rot="0">
            <a:off x="1441728" y="3142536"/>
            <a:ext cx="5746195" cy="6179820"/>
          </a:xfrm>
          <a:prstGeom prst="rect">
            <a:avLst/>
          </a:prstGeom>
        </p:spPr>
        <p:txBody>
          <a:bodyPr anchor="t" rtlCol="false" tIns="0" lIns="0" bIns="0" rIns="0">
            <a:spAutoFit/>
          </a:bodyPr>
          <a:lstStyle/>
          <a:p>
            <a:pPr algn="l" marL="582933" indent="-291467" lvl="1">
              <a:lnSpc>
                <a:spcPts val="3780"/>
              </a:lnSpc>
              <a:buFont typeface="Arial"/>
              <a:buChar char="•"/>
            </a:pPr>
            <a:r>
              <a:rPr lang="en-US" sz="2700">
                <a:solidFill>
                  <a:srgbClr val="2B2B2B"/>
                </a:solidFill>
                <a:latin typeface="Canva Sans"/>
                <a:ea typeface="Canva Sans"/>
                <a:cs typeface="Canva Sans"/>
                <a:sym typeface="Canva Sans"/>
              </a:rPr>
              <a:t>LDR sensors </a:t>
            </a:r>
            <a:r>
              <a:rPr lang="en-US" sz="2700">
                <a:solidFill>
                  <a:srgbClr val="2B2B2B"/>
                </a:solidFill>
                <a:latin typeface="Canva Sans"/>
                <a:ea typeface="Canva Sans"/>
                <a:cs typeface="Canva Sans"/>
                <a:sym typeface="Canva Sans"/>
              </a:rPr>
              <a:t>detect sunlight intensity and panel position.</a:t>
            </a:r>
          </a:p>
          <a:p>
            <a:pPr algn="l" marL="582933" indent="-291467" lvl="1">
              <a:lnSpc>
                <a:spcPts val="3780"/>
              </a:lnSpc>
              <a:buFont typeface="Arial"/>
              <a:buChar char="•"/>
            </a:pPr>
            <a:r>
              <a:rPr lang="en-US" sz="2700">
                <a:solidFill>
                  <a:srgbClr val="2B2B2B"/>
                </a:solidFill>
                <a:latin typeface="Canva Sans"/>
                <a:ea typeface="Canva Sans"/>
                <a:cs typeface="Canva Sans"/>
                <a:sym typeface="Canva Sans"/>
              </a:rPr>
              <a:t>The PID controller calculates the alignment error between the desired and actual panel direction.</a:t>
            </a:r>
          </a:p>
          <a:p>
            <a:pPr algn="l" marL="582933" indent="-291467" lvl="1">
              <a:lnSpc>
                <a:spcPts val="3780"/>
              </a:lnSpc>
              <a:buFont typeface="Arial"/>
              <a:buChar char="•"/>
            </a:pPr>
            <a:r>
              <a:rPr lang="en-US" sz="2700">
                <a:solidFill>
                  <a:srgbClr val="2B2B2B"/>
                </a:solidFill>
                <a:latin typeface="Canva Sans"/>
                <a:ea typeface="Canva Sans"/>
                <a:cs typeface="Canva Sans"/>
                <a:sym typeface="Canva Sans"/>
              </a:rPr>
              <a:t>Based on this error, the controller generates control signals for the servo motor.</a:t>
            </a:r>
          </a:p>
          <a:p>
            <a:pPr algn="l" marL="582933" indent="-291467" lvl="1">
              <a:lnSpc>
                <a:spcPts val="3780"/>
              </a:lnSpc>
              <a:buFont typeface="Arial"/>
              <a:buChar char="•"/>
            </a:pPr>
            <a:r>
              <a:rPr lang="en-US" sz="2700">
                <a:solidFill>
                  <a:srgbClr val="2B2B2B"/>
                </a:solidFill>
                <a:latin typeface="Canva Sans"/>
                <a:ea typeface="Canva Sans"/>
                <a:cs typeface="Canva Sans"/>
                <a:sym typeface="Canva Sans"/>
              </a:rPr>
              <a:t>The servo motor continuously adjusts the solar panel for optimal sunlight alignment.</a:t>
            </a:r>
          </a:p>
          <a:p>
            <a:pPr algn="l">
              <a:lnSpc>
                <a:spcPts val="3780"/>
              </a:lnSpc>
            </a:pPr>
          </a:p>
        </p:txBody>
      </p:sp>
      <p:sp>
        <p:nvSpPr>
          <p:cNvPr name="TextBox 11" id="11"/>
          <p:cNvSpPr txBox="true"/>
          <p:nvPr/>
        </p:nvSpPr>
        <p:spPr>
          <a:xfrm rot="0">
            <a:off x="12004090" y="1893229"/>
            <a:ext cx="3895606" cy="771525"/>
          </a:xfrm>
          <a:prstGeom prst="rect">
            <a:avLst/>
          </a:prstGeom>
        </p:spPr>
        <p:txBody>
          <a:bodyPr anchor="t" rtlCol="false" tIns="0" lIns="0" bIns="0" rIns="0">
            <a:spAutoFit/>
          </a:bodyPr>
          <a:lstStyle/>
          <a:p>
            <a:pPr algn="ctr">
              <a:lnSpc>
                <a:spcPts val="6300"/>
              </a:lnSpc>
            </a:pPr>
            <a:r>
              <a:rPr lang="en-US" sz="4500" b="true">
                <a:solidFill>
                  <a:srgbClr val="142043"/>
                </a:solidFill>
                <a:latin typeface="Canva Sans Bold"/>
                <a:ea typeface="Canva Sans Bold"/>
                <a:cs typeface="Canva Sans Bold"/>
                <a:sym typeface="Canva Sans Bold"/>
              </a:rPr>
              <a:t>PID Functions</a:t>
            </a:r>
          </a:p>
        </p:txBody>
      </p:sp>
      <p:sp>
        <p:nvSpPr>
          <p:cNvPr name="TextBox 12" id="12"/>
          <p:cNvSpPr txBox="true"/>
          <p:nvPr/>
        </p:nvSpPr>
        <p:spPr>
          <a:xfrm rot="0">
            <a:off x="11289774" y="3142536"/>
            <a:ext cx="5738117" cy="5703570"/>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2B2B2B"/>
                </a:solidFill>
                <a:latin typeface="Canva Sans"/>
                <a:ea typeface="Canva Sans"/>
                <a:cs typeface="Canva Sans"/>
                <a:sym typeface="Canva Sans"/>
              </a:rPr>
              <a:t>Proportional (P): Corrects imme</a:t>
            </a:r>
            <a:r>
              <a:rPr lang="en-US" sz="2700">
                <a:solidFill>
                  <a:srgbClr val="2B2B2B"/>
                </a:solidFill>
                <a:latin typeface="Canva Sans"/>
                <a:ea typeface="Canva Sans"/>
                <a:cs typeface="Canva Sans"/>
                <a:sym typeface="Canva Sans"/>
              </a:rPr>
              <a:t>diate alignment error.</a:t>
            </a:r>
          </a:p>
          <a:p>
            <a:pPr algn="l" marL="582930" indent="-291465" lvl="1">
              <a:lnSpc>
                <a:spcPts val="3779"/>
              </a:lnSpc>
              <a:buFont typeface="Arial"/>
              <a:buChar char="•"/>
            </a:pPr>
            <a:r>
              <a:rPr lang="en-US" sz="2700">
                <a:solidFill>
                  <a:srgbClr val="2B2B2B"/>
                </a:solidFill>
                <a:latin typeface="Canva Sans"/>
                <a:ea typeface="Canva Sans"/>
                <a:cs typeface="Canva Sans"/>
                <a:sym typeface="Canva Sans"/>
              </a:rPr>
              <a:t>Integral (I): Eliminates accumulated steady-state error.</a:t>
            </a:r>
          </a:p>
          <a:p>
            <a:pPr algn="l" marL="582930" indent="-291465" lvl="1">
              <a:lnSpc>
                <a:spcPts val="3779"/>
              </a:lnSpc>
              <a:buFont typeface="Arial"/>
              <a:buChar char="•"/>
            </a:pPr>
            <a:r>
              <a:rPr lang="en-US" sz="2700">
                <a:solidFill>
                  <a:srgbClr val="2B2B2B"/>
                </a:solidFill>
                <a:latin typeface="Canva Sans"/>
                <a:ea typeface="Canva Sans"/>
                <a:cs typeface="Canva Sans"/>
                <a:sym typeface="Canva Sans"/>
              </a:rPr>
              <a:t>Derivative (D): Reduces overshoot and improves system stability.</a:t>
            </a:r>
          </a:p>
          <a:p>
            <a:pPr algn="l" marL="582930" indent="-291465" lvl="1">
              <a:lnSpc>
                <a:spcPts val="3779"/>
              </a:lnSpc>
              <a:buFont typeface="Arial"/>
              <a:buChar char="•"/>
            </a:pPr>
            <a:r>
              <a:rPr lang="en-US" sz="2700">
                <a:solidFill>
                  <a:srgbClr val="2B2B2B"/>
                </a:solidFill>
                <a:latin typeface="Canva Sans"/>
                <a:ea typeface="Canva Sans"/>
                <a:cs typeface="Canva Sans"/>
                <a:sym typeface="Canva Sans"/>
              </a:rPr>
              <a:t>PID tuning ensures smooth and accurate solar tracking under varying light conditions.</a:t>
            </a:r>
          </a:p>
          <a:p>
            <a:pPr algn="l">
              <a:lnSpc>
                <a:spcPts val="3779"/>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C9966B"/>
        </a:solidFill>
      </p:bgPr>
    </p:bg>
    <p:spTree>
      <p:nvGrpSpPr>
        <p:cNvPr id="1" name=""/>
        <p:cNvGrpSpPr/>
        <p:nvPr/>
      </p:nvGrpSpPr>
      <p:grpSpPr>
        <a:xfrm>
          <a:off x="0" y="0"/>
          <a:ext cx="0" cy="0"/>
          <a:chOff x="0" y="0"/>
          <a:chExt cx="0" cy="0"/>
        </a:xfrm>
      </p:grpSpPr>
      <p:grpSp>
        <p:nvGrpSpPr>
          <p:cNvPr name="Group 2" id="2"/>
          <p:cNvGrpSpPr/>
          <p:nvPr/>
        </p:nvGrpSpPr>
        <p:grpSpPr>
          <a:xfrm rot="0">
            <a:off x="10922003" y="388972"/>
            <a:ext cx="7365997" cy="1279446"/>
            <a:chOff x="0" y="0"/>
            <a:chExt cx="7366000" cy="1279449"/>
          </a:xfrm>
        </p:grpSpPr>
        <p:sp>
          <p:nvSpPr>
            <p:cNvPr name="Freeform 3" id="3"/>
            <p:cNvSpPr/>
            <p:nvPr/>
          </p:nvSpPr>
          <p:spPr>
            <a:xfrm flipH="false" flipV="false" rot="0">
              <a:off x="0" y="0"/>
              <a:ext cx="7365999" cy="1279397"/>
            </a:xfrm>
            <a:custGeom>
              <a:avLst/>
              <a:gdLst/>
              <a:ahLst/>
              <a:cxnLst/>
              <a:rect r="r" b="b" t="t" l="l"/>
              <a:pathLst>
                <a:path h="1279397" w="7365999">
                  <a:moveTo>
                    <a:pt x="0" y="0"/>
                  </a:moveTo>
                  <a:lnTo>
                    <a:pt x="0" y="1279397"/>
                  </a:lnTo>
                  <a:lnTo>
                    <a:pt x="7365999" y="1279397"/>
                  </a:lnTo>
                  <a:lnTo>
                    <a:pt x="7365999" y="0"/>
                  </a:lnTo>
                  <a:close/>
                </a:path>
              </a:pathLst>
            </a:custGeom>
            <a:solidFill>
              <a:srgbClr val="FFF6E3"/>
            </a:solidFill>
          </p:spPr>
        </p:sp>
      </p:grpSp>
      <p:grpSp>
        <p:nvGrpSpPr>
          <p:cNvPr name="Group 4" id="4"/>
          <p:cNvGrpSpPr/>
          <p:nvPr/>
        </p:nvGrpSpPr>
        <p:grpSpPr>
          <a:xfrm rot="0">
            <a:off x="10922003" y="4756556"/>
            <a:ext cx="7365997" cy="1279446"/>
            <a:chOff x="0" y="0"/>
            <a:chExt cx="7366003" cy="1279449"/>
          </a:xfrm>
        </p:grpSpPr>
        <p:sp>
          <p:nvSpPr>
            <p:cNvPr name="Freeform 5" id="5"/>
            <p:cNvSpPr/>
            <p:nvPr/>
          </p:nvSpPr>
          <p:spPr>
            <a:xfrm flipH="false" flipV="false" rot="0">
              <a:off x="0" y="0"/>
              <a:ext cx="7366018" cy="1279397"/>
            </a:xfrm>
            <a:custGeom>
              <a:avLst/>
              <a:gdLst/>
              <a:ahLst/>
              <a:cxnLst/>
              <a:rect r="r" b="b" t="t" l="l"/>
              <a:pathLst>
                <a:path h="1279397" w="7366018">
                  <a:moveTo>
                    <a:pt x="0" y="0"/>
                  </a:moveTo>
                  <a:lnTo>
                    <a:pt x="0" y="1279397"/>
                  </a:lnTo>
                  <a:lnTo>
                    <a:pt x="7366018" y="1279397"/>
                  </a:lnTo>
                  <a:lnTo>
                    <a:pt x="7366018" y="0"/>
                  </a:lnTo>
                  <a:close/>
                </a:path>
              </a:pathLst>
            </a:custGeom>
            <a:solidFill>
              <a:srgbClr val="FFF6E3"/>
            </a:solidFill>
          </p:spPr>
        </p:sp>
      </p:grpSp>
      <p:grpSp>
        <p:nvGrpSpPr>
          <p:cNvPr name="Group 6" id="6"/>
          <p:cNvGrpSpPr/>
          <p:nvPr/>
        </p:nvGrpSpPr>
        <p:grpSpPr>
          <a:xfrm rot="0">
            <a:off x="0" y="-102870"/>
            <a:ext cx="8984523" cy="10389870"/>
            <a:chOff x="0" y="0"/>
            <a:chExt cx="1391938" cy="1609663"/>
          </a:xfrm>
        </p:grpSpPr>
        <p:sp>
          <p:nvSpPr>
            <p:cNvPr name="Freeform 7" id="7"/>
            <p:cNvSpPr/>
            <p:nvPr/>
          </p:nvSpPr>
          <p:spPr>
            <a:xfrm flipH="false" flipV="false" rot="0">
              <a:off x="0" y="0"/>
              <a:ext cx="1391938" cy="1609663"/>
            </a:xfrm>
            <a:custGeom>
              <a:avLst/>
              <a:gdLst/>
              <a:ahLst/>
              <a:cxnLst/>
              <a:rect r="r" b="b" t="t" l="l"/>
              <a:pathLst>
                <a:path h="1609663" w="1391938">
                  <a:moveTo>
                    <a:pt x="0" y="0"/>
                  </a:moveTo>
                  <a:lnTo>
                    <a:pt x="1391938" y="0"/>
                  </a:lnTo>
                  <a:lnTo>
                    <a:pt x="1391938" y="1609663"/>
                  </a:lnTo>
                  <a:lnTo>
                    <a:pt x="0" y="1609663"/>
                  </a:lnTo>
                  <a:close/>
                </a:path>
              </a:pathLst>
            </a:custGeom>
            <a:solidFill>
              <a:srgbClr val="9A6B45"/>
            </a:solidFill>
          </p:spPr>
        </p:sp>
      </p:grpSp>
      <p:grpSp>
        <p:nvGrpSpPr>
          <p:cNvPr name="Group 8" id="8"/>
          <p:cNvGrpSpPr/>
          <p:nvPr/>
        </p:nvGrpSpPr>
        <p:grpSpPr>
          <a:xfrm rot="0">
            <a:off x="1490536" y="5137647"/>
            <a:ext cx="7493987" cy="1279446"/>
            <a:chOff x="0" y="0"/>
            <a:chExt cx="7493990" cy="1279449"/>
          </a:xfrm>
        </p:grpSpPr>
        <p:sp>
          <p:nvSpPr>
            <p:cNvPr name="Freeform 9" id="9"/>
            <p:cNvSpPr/>
            <p:nvPr/>
          </p:nvSpPr>
          <p:spPr>
            <a:xfrm flipH="false" flipV="false" rot="0">
              <a:off x="0" y="0"/>
              <a:ext cx="7493989" cy="1279397"/>
            </a:xfrm>
            <a:custGeom>
              <a:avLst/>
              <a:gdLst/>
              <a:ahLst/>
              <a:cxnLst/>
              <a:rect r="r" b="b" t="t" l="l"/>
              <a:pathLst>
                <a:path h="1279397" w="7493989">
                  <a:moveTo>
                    <a:pt x="0" y="0"/>
                  </a:moveTo>
                  <a:lnTo>
                    <a:pt x="0" y="1279397"/>
                  </a:lnTo>
                  <a:lnTo>
                    <a:pt x="7493989" y="1279397"/>
                  </a:lnTo>
                  <a:lnTo>
                    <a:pt x="7493989" y="0"/>
                  </a:lnTo>
                  <a:close/>
                </a:path>
              </a:pathLst>
            </a:custGeom>
            <a:solidFill>
              <a:srgbClr val="FFF6E3"/>
            </a:solidFill>
          </p:spPr>
        </p:sp>
      </p:grpSp>
      <p:grpSp>
        <p:nvGrpSpPr>
          <p:cNvPr name="Group 10" id="10"/>
          <p:cNvGrpSpPr/>
          <p:nvPr/>
        </p:nvGrpSpPr>
        <p:grpSpPr>
          <a:xfrm rot="0">
            <a:off x="1618526" y="1017432"/>
            <a:ext cx="7365997" cy="1279446"/>
            <a:chOff x="0" y="0"/>
            <a:chExt cx="7366000" cy="1279449"/>
          </a:xfrm>
        </p:grpSpPr>
        <p:sp>
          <p:nvSpPr>
            <p:cNvPr name="Freeform 11" id="11"/>
            <p:cNvSpPr/>
            <p:nvPr/>
          </p:nvSpPr>
          <p:spPr>
            <a:xfrm flipH="false" flipV="false" rot="0">
              <a:off x="0" y="0"/>
              <a:ext cx="7365999" cy="1279397"/>
            </a:xfrm>
            <a:custGeom>
              <a:avLst/>
              <a:gdLst/>
              <a:ahLst/>
              <a:cxnLst/>
              <a:rect r="r" b="b" t="t" l="l"/>
              <a:pathLst>
                <a:path h="1279397" w="7365999">
                  <a:moveTo>
                    <a:pt x="0" y="0"/>
                  </a:moveTo>
                  <a:lnTo>
                    <a:pt x="0" y="1279397"/>
                  </a:lnTo>
                  <a:lnTo>
                    <a:pt x="7365999" y="1279397"/>
                  </a:lnTo>
                  <a:lnTo>
                    <a:pt x="7365999" y="0"/>
                  </a:lnTo>
                  <a:close/>
                </a:path>
              </a:pathLst>
            </a:custGeom>
            <a:solidFill>
              <a:srgbClr val="FFF6E3"/>
            </a:solidFill>
          </p:spPr>
        </p:sp>
      </p:grpSp>
      <p:sp>
        <p:nvSpPr>
          <p:cNvPr name="TextBox 12" id="12"/>
          <p:cNvSpPr txBox="true"/>
          <p:nvPr/>
        </p:nvSpPr>
        <p:spPr>
          <a:xfrm rot="0">
            <a:off x="5034744" y="5175685"/>
            <a:ext cx="3772148" cy="1146219"/>
          </a:xfrm>
          <a:prstGeom prst="rect">
            <a:avLst/>
          </a:prstGeom>
        </p:spPr>
        <p:txBody>
          <a:bodyPr anchor="t" rtlCol="false" tIns="0" lIns="0" bIns="0" rIns="0">
            <a:spAutoFit/>
          </a:bodyPr>
          <a:lstStyle/>
          <a:p>
            <a:pPr algn="r">
              <a:lnSpc>
                <a:spcPts val="4576"/>
              </a:lnSpc>
            </a:pPr>
            <a:r>
              <a:rPr lang="en-US" sz="3299">
                <a:solidFill>
                  <a:srgbClr val="000000"/>
                </a:solidFill>
                <a:latin typeface="Hammersmith One"/>
                <a:ea typeface="Hammersmith One"/>
                <a:cs typeface="Hammersmith One"/>
                <a:sym typeface="Hammersmith One"/>
              </a:rPr>
              <a:t>Debugging &amp; Issue Resolution</a:t>
            </a:r>
          </a:p>
        </p:txBody>
      </p:sp>
      <p:sp>
        <p:nvSpPr>
          <p:cNvPr name="TextBox 13" id="13"/>
          <p:cNvSpPr txBox="true"/>
          <p:nvPr/>
        </p:nvSpPr>
        <p:spPr>
          <a:xfrm rot="0">
            <a:off x="4923120" y="1069420"/>
            <a:ext cx="3883771" cy="1140846"/>
          </a:xfrm>
          <a:prstGeom prst="rect">
            <a:avLst/>
          </a:prstGeom>
        </p:spPr>
        <p:txBody>
          <a:bodyPr anchor="t" rtlCol="false" tIns="0" lIns="0" bIns="0" rIns="0">
            <a:spAutoFit/>
          </a:bodyPr>
          <a:lstStyle/>
          <a:p>
            <a:pPr algn="r">
              <a:lnSpc>
                <a:spcPts val="4576"/>
              </a:lnSpc>
            </a:pPr>
            <a:r>
              <a:rPr lang="en-US" sz="3299">
                <a:solidFill>
                  <a:srgbClr val="000000"/>
                </a:solidFill>
                <a:latin typeface="Hammersmith One"/>
                <a:ea typeface="Hammersmith One"/>
                <a:cs typeface="Hammersmith One"/>
                <a:sym typeface="Hammersmith One"/>
              </a:rPr>
              <a:t>Stress &amp; Endurance Testing</a:t>
            </a:r>
          </a:p>
        </p:txBody>
      </p:sp>
      <p:sp>
        <p:nvSpPr>
          <p:cNvPr name="TextBox 14" id="14"/>
          <p:cNvSpPr txBox="true"/>
          <p:nvPr/>
        </p:nvSpPr>
        <p:spPr>
          <a:xfrm rot="0">
            <a:off x="4983204" y="2146459"/>
            <a:ext cx="103080" cy="417195"/>
          </a:xfrm>
          <a:prstGeom prst="rect">
            <a:avLst/>
          </a:prstGeom>
        </p:spPr>
        <p:txBody>
          <a:bodyPr anchor="t" rtlCol="false" tIns="0" lIns="0" bIns="0" rIns="0">
            <a:spAutoFit/>
          </a:bodyPr>
          <a:lstStyle/>
          <a:p>
            <a:pPr algn="l">
              <a:lnSpc>
                <a:spcPts val="3359"/>
              </a:lnSpc>
            </a:pPr>
            <a:r>
              <a:rPr lang="en-US" sz="2400">
                <a:solidFill>
                  <a:srgbClr val="000000"/>
                </a:solidFill>
                <a:latin typeface="Hammersmith One"/>
                <a:ea typeface="Hammersmith One"/>
                <a:cs typeface="Hammersmith One"/>
                <a:sym typeface="Hammersmith One"/>
              </a:rPr>
              <a:t> </a:t>
            </a:r>
          </a:p>
        </p:txBody>
      </p:sp>
      <p:sp>
        <p:nvSpPr>
          <p:cNvPr name="TextBox 15" id="15"/>
          <p:cNvSpPr txBox="true"/>
          <p:nvPr/>
        </p:nvSpPr>
        <p:spPr>
          <a:xfrm rot="0">
            <a:off x="11152651" y="429044"/>
            <a:ext cx="2208667" cy="1146219"/>
          </a:xfrm>
          <a:prstGeom prst="rect">
            <a:avLst/>
          </a:prstGeom>
        </p:spPr>
        <p:txBody>
          <a:bodyPr anchor="t" rtlCol="false" tIns="0" lIns="0" bIns="0" rIns="0">
            <a:spAutoFit/>
          </a:bodyPr>
          <a:lstStyle/>
          <a:p>
            <a:pPr algn="l">
              <a:lnSpc>
                <a:spcPts val="4576"/>
              </a:lnSpc>
            </a:pPr>
            <a:r>
              <a:rPr lang="en-US" sz="3299">
                <a:solidFill>
                  <a:srgbClr val="000000"/>
                </a:solidFill>
                <a:latin typeface="Hammersmith One"/>
                <a:ea typeface="Hammersmith One"/>
                <a:cs typeface="Hammersmith One"/>
                <a:sym typeface="Hammersmith One"/>
              </a:rPr>
              <a:t>Functional Testing</a:t>
            </a:r>
          </a:p>
        </p:txBody>
      </p:sp>
      <p:sp>
        <p:nvSpPr>
          <p:cNvPr name="TextBox 16" id="16"/>
          <p:cNvSpPr txBox="true"/>
          <p:nvPr/>
        </p:nvSpPr>
        <p:spPr>
          <a:xfrm rot="0">
            <a:off x="11152651" y="4841448"/>
            <a:ext cx="3046724" cy="1052512"/>
          </a:xfrm>
          <a:prstGeom prst="rect">
            <a:avLst/>
          </a:prstGeom>
        </p:spPr>
        <p:txBody>
          <a:bodyPr anchor="t" rtlCol="false" tIns="0" lIns="0" bIns="0" rIns="0">
            <a:spAutoFit/>
          </a:bodyPr>
          <a:lstStyle/>
          <a:p>
            <a:pPr algn="l">
              <a:lnSpc>
                <a:spcPts val="4200"/>
              </a:lnSpc>
            </a:pPr>
            <a:r>
              <a:rPr lang="en-US" sz="3000">
                <a:solidFill>
                  <a:srgbClr val="000000"/>
                </a:solidFill>
                <a:latin typeface="Hammersmith One"/>
                <a:ea typeface="Hammersmith One"/>
                <a:cs typeface="Hammersmith One"/>
                <a:sym typeface="Hammersmith One"/>
              </a:rPr>
              <a:t>Performance &amp; Accuracy Testing</a:t>
            </a:r>
          </a:p>
        </p:txBody>
      </p:sp>
      <p:sp>
        <p:nvSpPr>
          <p:cNvPr name="TextBox 17" id="17"/>
          <p:cNvSpPr txBox="true"/>
          <p:nvPr/>
        </p:nvSpPr>
        <p:spPr>
          <a:xfrm rot="0">
            <a:off x="2297399" y="78185"/>
            <a:ext cx="6008251" cy="730293"/>
          </a:xfrm>
          <a:prstGeom prst="rect">
            <a:avLst/>
          </a:prstGeom>
        </p:spPr>
        <p:txBody>
          <a:bodyPr anchor="t" rtlCol="false" tIns="0" lIns="0" bIns="0" rIns="0">
            <a:spAutoFit/>
          </a:bodyPr>
          <a:lstStyle/>
          <a:p>
            <a:pPr algn="l">
              <a:lnSpc>
                <a:spcPts val="5947"/>
              </a:lnSpc>
            </a:pPr>
            <a:r>
              <a:rPr lang="en-US" sz="4248" spc="199">
                <a:solidFill>
                  <a:srgbClr val="000000"/>
                </a:solidFill>
                <a:latin typeface="Hammersmith One"/>
                <a:ea typeface="Hammersmith One"/>
                <a:cs typeface="Hammersmith One"/>
                <a:sym typeface="Hammersmith One"/>
              </a:rPr>
              <a:t>TESTING PROCEDURES:</a:t>
            </a:r>
          </a:p>
        </p:txBody>
      </p:sp>
      <p:sp>
        <p:nvSpPr>
          <p:cNvPr name="TextBox 18" id="18"/>
          <p:cNvSpPr txBox="true"/>
          <p:nvPr/>
        </p:nvSpPr>
        <p:spPr>
          <a:xfrm rot="0">
            <a:off x="1490536" y="2525554"/>
            <a:ext cx="7191494" cy="2119429"/>
          </a:xfrm>
          <a:prstGeom prst="rect">
            <a:avLst/>
          </a:prstGeom>
        </p:spPr>
        <p:txBody>
          <a:bodyPr anchor="t" rtlCol="false" tIns="0" lIns="0" bIns="0" rIns="0">
            <a:spAutoFit/>
          </a:bodyPr>
          <a:lstStyle/>
          <a:p>
            <a:pPr algn="l" marL="525265" indent="-262633" lvl="1">
              <a:lnSpc>
                <a:spcPts val="3406"/>
              </a:lnSpc>
              <a:buFont typeface="Arial"/>
              <a:buChar char="•"/>
            </a:pPr>
            <a:r>
              <a:rPr lang="en-US" sz="2432">
                <a:solidFill>
                  <a:srgbClr val="000000"/>
                </a:solidFill>
                <a:latin typeface="Canva Sans"/>
                <a:ea typeface="Canva Sans"/>
                <a:cs typeface="Canva Sans"/>
                <a:sym typeface="Canva Sans"/>
              </a:rPr>
              <a:t>Teste</a:t>
            </a:r>
            <a:r>
              <a:rPr lang="en-US" sz="2432">
                <a:solidFill>
                  <a:srgbClr val="000000"/>
                </a:solidFill>
                <a:latin typeface="Canva Sans"/>
                <a:ea typeface="Canva Sans"/>
                <a:cs typeface="Canva Sans"/>
                <a:sym typeface="Canva Sans"/>
              </a:rPr>
              <a:t>d under continuous operation.</a:t>
            </a:r>
          </a:p>
          <a:p>
            <a:pPr algn="l" marL="525265" indent="-262633" lvl="1">
              <a:lnSpc>
                <a:spcPts val="3406"/>
              </a:lnSpc>
              <a:buFont typeface="Arial"/>
              <a:buChar char="•"/>
            </a:pPr>
            <a:r>
              <a:rPr lang="en-US" sz="2432">
                <a:solidFill>
                  <a:srgbClr val="000000"/>
                </a:solidFill>
                <a:latin typeface="Canva Sans"/>
                <a:ea typeface="Canva Sans"/>
                <a:cs typeface="Canva Sans"/>
                <a:sym typeface="Canva Sans"/>
              </a:rPr>
              <a:t>Verified smooth panel movement.</a:t>
            </a:r>
          </a:p>
          <a:p>
            <a:pPr algn="l" marL="525265" indent="-262633" lvl="1">
              <a:lnSpc>
                <a:spcPts val="3406"/>
              </a:lnSpc>
              <a:buFont typeface="Arial"/>
              <a:buChar char="•"/>
            </a:pPr>
            <a:r>
              <a:rPr lang="en-US" sz="2432">
                <a:solidFill>
                  <a:srgbClr val="000000"/>
                </a:solidFill>
                <a:latin typeface="Canva Sans"/>
                <a:ea typeface="Canva Sans"/>
                <a:cs typeface="Canva Sans"/>
                <a:sym typeface="Canva Sans"/>
              </a:rPr>
              <a:t>Checked durability under varying conditions.</a:t>
            </a:r>
          </a:p>
          <a:p>
            <a:pPr algn="l" marL="525265" indent="-262633" lvl="1">
              <a:lnSpc>
                <a:spcPts val="3406"/>
              </a:lnSpc>
              <a:buFont typeface="Arial"/>
              <a:buChar char="•"/>
            </a:pPr>
            <a:r>
              <a:rPr lang="en-US" sz="2432">
                <a:solidFill>
                  <a:srgbClr val="000000"/>
                </a:solidFill>
                <a:latin typeface="Canva Sans"/>
                <a:ea typeface="Canva Sans"/>
                <a:cs typeface="Canva Sans"/>
                <a:sym typeface="Canva Sans"/>
              </a:rPr>
              <a:t>Evaluated system reliability.</a:t>
            </a:r>
          </a:p>
          <a:p>
            <a:pPr algn="l">
              <a:lnSpc>
                <a:spcPts val="3406"/>
              </a:lnSpc>
            </a:pPr>
          </a:p>
        </p:txBody>
      </p:sp>
      <p:sp>
        <p:nvSpPr>
          <p:cNvPr name="TextBox 19" id="19"/>
          <p:cNvSpPr txBox="true"/>
          <p:nvPr/>
        </p:nvSpPr>
        <p:spPr>
          <a:xfrm rot="0">
            <a:off x="11152651" y="1998878"/>
            <a:ext cx="5872758" cy="2129028"/>
          </a:xfrm>
          <a:prstGeom prst="rect">
            <a:avLst/>
          </a:prstGeom>
        </p:spPr>
        <p:txBody>
          <a:bodyPr anchor="t" rtlCol="false" tIns="0" lIns="0" bIns="0" rIns="0">
            <a:spAutoFit/>
          </a:bodyPr>
          <a:lstStyle/>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Verifie</a:t>
            </a:r>
            <a:r>
              <a:rPr lang="en-US" sz="2429">
                <a:solidFill>
                  <a:srgbClr val="000000"/>
                </a:solidFill>
                <a:latin typeface="Canva Sans"/>
                <a:ea typeface="Canva Sans"/>
                <a:cs typeface="Canva Sans"/>
                <a:sym typeface="Canva Sans"/>
              </a:rPr>
              <a:t>d LDR light detection.</a:t>
            </a:r>
          </a:p>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Checked servo motor response.</a:t>
            </a:r>
          </a:p>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Tested automatic tracking mode.</a:t>
            </a:r>
          </a:p>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Validated manual control operation.</a:t>
            </a:r>
          </a:p>
          <a:p>
            <a:pPr algn="l">
              <a:lnSpc>
                <a:spcPts val="3401"/>
              </a:lnSpc>
            </a:pPr>
          </a:p>
        </p:txBody>
      </p:sp>
      <p:sp>
        <p:nvSpPr>
          <p:cNvPr name="TextBox 20" id="20"/>
          <p:cNvSpPr txBox="true"/>
          <p:nvPr/>
        </p:nvSpPr>
        <p:spPr>
          <a:xfrm rot="0">
            <a:off x="1030672" y="6864768"/>
            <a:ext cx="7953851" cy="2129028"/>
          </a:xfrm>
          <a:prstGeom prst="rect">
            <a:avLst/>
          </a:prstGeom>
        </p:spPr>
        <p:txBody>
          <a:bodyPr anchor="t" rtlCol="false" tIns="0" lIns="0" bIns="0" rIns="0">
            <a:spAutoFit/>
          </a:bodyPr>
          <a:lstStyle/>
          <a:p>
            <a:pPr algn="just" marL="524637" indent="-262318" lvl="1">
              <a:lnSpc>
                <a:spcPts val="3401"/>
              </a:lnSpc>
              <a:buFont typeface="Arial"/>
              <a:buChar char="•"/>
            </a:pPr>
            <a:r>
              <a:rPr lang="en-US" sz="2429">
                <a:solidFill>
                  <a:srgbClr val="000000"/>
                </a:solidFill>
                <a:latin typeface="Canva Sans"/>
                <a:ea typeface="Canva Sans"/>
                <a:cs typeface="Canva Sans"/>
                <a:sym typeface="Canva Sans"/>
              </a:rPr>
              <a:t>Identified wiring</a:t>
            </a:r>
            <a:r>
              <a:rPr lang="en-US" sz="2429">
                <a:solidFill>
                  <a:srgbClr val="000000"/>
                </a:solidFill>
                <a:latin typeface="Canva Sans"/>
                <a:ea typeface="Canva Sans"/>
                <a:cs typeface="Canva Sans"/>
                <a:sym typeface="Canva Sans"/>
              </a:rPr>
              <a:t> and connection errors.</a:t>
            </a:r>
          </a:p>
          <a:p>
            <a:pPr algn="just" marL="524637" indent="-262318" lvl="1">
              <a:lnSpc>
                <a:spcPts val="3401"/>
              </a:lnSpc>
              <a:buFont typeface="Arial"/>
              <a:buChar char="•"/>
            </a:pPr>
            <a:r>
              <a:rPr lang="en-US" sz="2429">
                <a:solidFill>
                  <a:srgbClr val="000000"/>
                </a:solidFill>
                <a:latin typeface="Canva Sans"/>
                <a:ea typeface="Canva Sans"/>
                <a:cs typeface="Canva Sans"/>
                <a:sym typeface="Canva Sans"/>
              </a:rPr>
              <a:t>Reduced s</a:t>
            </a:r>
            <a:r>
              <a:rPr lang="en-US" sz="2429">
                <a:solidFill>
                  <a:srgbClr val="000000"/>
                </a:solidFill>
                <a:latin typeface="Canva Sans"/>
                <a:ea typeface="Canva Sans"/>
                <a:cs typeface="Canva Sans"/>
                <a:sym typeface="Canva Sans"/>
              </a:rPr>
              <a:t>ensor noise using filtering techniques.</a:t>
            </a:r>
          </a:p>
          <a:p>
            <a:pPr algn="just" marL="524637" indent="-262318" lvl="1">
              <a:lnSpc>
                <a:spcPts val="3401"/>
              </a:lnSpc>
              <a:buFont typeface="Arial"/>
              <a:buChar char="•"/>
            </a:pPr>
            <a:r>
              <a:rPr lang="en-US" sz="2429">
                <a:solidFill>
                  <a:srgbClr val="000000"/>
                </a:solidFill>
                <a:latin typeface="Canva Sans"/>
                <a:ea typeface="Canva Sans"/>
                <a:cs typeface="Canva Sans"/>
                <a:sym typeface="Canva Sans"/>
              </a:rPr>
              <a:t>Calibrated the s</a:t>
            </a:r>
            <a:r>
              <a:rPr lang="en-US" sz="2429">
                <a:solidFill>
                  <a:srgbClr val="000000"/>
                </a:solidFill>
                <a:latin typeface="Canva Sans"/>
                <a:ea typeface="Canva Sans"/>
                <a:cs typeface="Canva Sans"/>
                <a:sym typeface="Canva Sans"/>
              </a:rPr>
              <a:t>ervo motor for stable movement.</a:t>
            </a:r>
          </a:p>
          <a:p>
            <a:pPr algn="just" marL="524637" indent="-262318" lvl="1">
              <a:lnSpc>
                <a:spcPts val="3401"/>
              </a:lnSpc>
              <a:buFont typeface="Arial"/>
              <a:buChar char="•"/>
            </a:pPr>
            <a:r>
              <a:rPr lang="en-US" sz="2429">
                <a:solidFill>
                  <a:srgbClr val="000000"/>
                </a:solidFill>
                <a:latin typeface="Canva Sans"/>
                <a:ea typeface="Canva Sans"/>
                <a:cs typeface="Canva Sans"/>
                <a:sym typeface="Canva Sans"/>
              </a:rPr>
              <a:t>Stabilized the power supply for reliable operation.</a:t>
            </a:r>
          </a:p>
          <a:p>
            <a:pPr algn="just">
              <a:lnSpc>
                <a:spcPts val="3401"/>
              </a:lnSpc>
            </a:pPr>
          </a:p>
        </p:txBody>
      </p:sp>
      <p:sp>
        <p:nvSpPr>
          <p:cNvPr name="TextBox 21" id="21"/>
          <p:cNvSpPr txBox="true"/>
          <p:nvPr/>
        </p:nvSpPr>
        <p:spPr>
          <a:xfrm rot="0">
            <a:off x="11152651" y="6455102"/>
            <a:ext cx="6285309" cy="2129028"/>
          </a:xfrm>
          <a:prstGeom prst="rect">
            <a:avLst/>
          </a:prstGeom>
        </p:spPr>
        <p:txBody>
          <a:bodyPr anchor="t" rtlCol="false" tIns="0" lIns="0" bIns="0" rIns="0">
            <a:spAutoFit/>
          </a:bodyPr>
          <a:lstStyle/>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Observe</a:t>
            </a:r>
            <a:r>
              <a:rPr lang="en-US" sz="2429">
                <a:solidFill>
                  <a:srgbClr val="000000"/>
                </a:solidFill>
                <a:latin typeface="Canva Sans"/>
                <a:ea typeface="Canva Sans"/>
                <a:cs typeface="Canva Sans"/>
                <a:sym typeface="Canva Sans"/>
              </a:rPr>
              <a:t>d sun-tracking accuracy.</a:t>
            </a:r>
          </a:p>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Measured panel orientation changes.</a:t>
            </a:r>
          </a:p>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Recorded voltage/current output.</a:t>
            </a:r>
          </a:p>
          <a:p>
            <a:pPr algn="l" marL="524637" indent="-262318" lvl="1">
              <a:lnSpc>
                <a:spcPts val="3401"/>
              </a:lnSpc>
              <a:buFont typeface="Arial"/>
              <a:buChar char="•"/>
            </a:pPr>
            <a:r>
              <a:rPr lang="en-US" sz="2429">
                <a:solidFill>
                  <a:srgbClr val="000000"/>
                </a:solidFill>
                <a:latin typeface="Canva Sans"/>
                <a:ea typeface="Canva Sans"/>
                <a:cs typeface="Canva Sans"/>
                <a:sym typeface="Canva Sans"/>
              </a:rPr>
              <a:t>Compared efficiency with fixed panels.</a:t>
            </a:r>
          </a:p>
          <a:p>
            <a:pPr algn="l">
              <a:lnSpc>
                <a:spcPts val="340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D986C"/>
        </a:solidFill>
      </p:bgPr>
    </p:bg>
    <p:spTree>
      <p:nvGrpSpPr>
        <p:cNvPr id="1" name=""/>
        <p:cNvGrpSpPr/>
        <p:nvPr/>
      </p:nvGrpSpPr>
      <p:grpSpPr>
        <a:xfrm>
          <a:off x="0" y="0"/>
          <a:ext cx="0" cy="0"/>
          <a:chOff x="0" y="0"/>
          <a:chExt cx="0" cy="0"/>
        </a:xfrm>
      </p:grpSpPr>
      <p:grpSp>
        <p:nvGrpSpPr>
          <p:cNvPr name="Group 2" id="2"/>
          <p:cNvGrpSpPr/>
          <p:nvPr/>
        </p:nvGrpSpPr>
        <p:grpSpPr>
          <a:xfrm rot="0">
            <a:off x="-338566" y="0"/>
            <a:ext cx="18964275" cy="10620375"/>
            <a:chOff x="0" y="0"/>
            <a:chExt cx="25285700" cy="14160500"/>
          </a:xfrm>
        </p:grpSpPr>
        <p:sp>
          <p:nvSpPr>
            <p:cNvPr name="Freeform 3" id="3"/>
            <p:cNvSpPr/>
            <p:nvPr/>
          </p:nvSpPr>
          <p:spPr>
            <a:xfrm flipH="false" flipV="false" rot="0">
              <a:off x="0" y="0"/>
              <a:ext cx="25285700" cy="14160500"/>
            </a:xfrm>
            <a:custGeom>
              <a:avLst/>
              <a:gdLst/>
              <a:ahLst/>
              <a:cxnLst/>
              <a:rect r="r" b="b" t="t" l="l"/>
              <a:pathLst>
                <a:path h="14160500" w="25285700">
                  <a:moveTo>
                    <a:pt x="0" y="0"/>
                  </a:moveTo>
                  <a:lnTo>
                    <a:pt x="25285700" y="0"/>
                  </a:lnTo>
                  <a:lnTo>
                    <a:pt x="25285700" y="14160500"/>
                  </a:lnTo>
                  <a:lnTo>
                    <a:pt x="0" y="14160500"/>
                  </a:lnTo>
                  <a:lnTo>
                    <a:pt x="0" y="0"/>
                  </a:lnTo>
                  <a:close/>
                </a:path>
              </a:pathLst>
            </a:custGeom>
            <a:blipFill>
              <a:blip r:embed="rId2"/>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FAF9F8"/>
        </a:solidFill>
      </p:bgPr>
    </p:bg>
    <p:spTree>
      <p:nvGrpSpPr>
        <p:cNvPr id="1" name=""/>
        <p:cNvGrpSpPr/>
        <p:nvPr/>
      </p:nvGrpSpPr>
      <p:grpSpPr>
        <a:xfrm>
          <a:off x="0" y="0"/>
          <a:ext cx="0" cy="0"/>
          <a:chOff x="0" y="0"/>
          <a:chExt cx="0" cy="0"/>
        </a:xfrm>
      </p:grpSpPr>
      <p:grpSp>
        <p:nvGrpSpPr>
          <p:cNvPr name="Group 2" id="2"/>
          <p:cNvGrpSpPr/>
          <p:nvPr/>
        </p:nvGrpSpPr>
        <p:grpSpPr>
          <a:xfrm rot="0">
            <a:off x="-953365" y="-140749"/>
            <a:ext cx="21708023" cy="10925804"/>
            <a:chOff x="0" y="0"/>
            <a:chExt cx="5717339" cy="2877578"/>
          </a:xfrm>
        </p:grpSpPr>
        <p:sp>
          <p:nvSpPr>
            <p:cNvPr name="Freeform 3" id="3"/>
            <p:cNvSpPr/>
            <p:nvPr/>
          </p:nvSpPr>
          <p:spPr>
            <a:xfrm flipH="false" flipV="false" rot="0">
              <a:off x="0" y="0"/>
              <a:ext cx="5717339" cy="2877578"/>
            </a:xfrm>
            <a:custGeom>
              <a:avLst/>
              <a:gdLst/>
              <a:ahLst/>
              <a:cxnLst/>
              <a:rect r="r" b="b" t="t" l="l"/>
              <a:pathLst>
                <a:path h="2877578" w="5717339">
                  <a:moveTo>
                    <a:pt x="0" y="0"/>
                  </a:moveTo>
                  <a:lnTo>
                    <a:pt x="5717339" y="0"/>
                  </a:lnTo>
                  <a:lnTo>
                    <a:pt x="5717339" y="2877578"/>
                  </a:lnTo>
                  <a:lnTo>
                    <a:pt x="0" y="2877578"/>
                  </a:lnTo>
                  <a:close/>
                </a:path>
              </a:pathLst>
            </a:custGeom>
            <a:solidFill>
              <a:srgbClr val="8B5E3C"/>
            </a:solidFill>
          </p:spPr>
        </p:sp>
        <p:sp>
          <p:nvSpPr>
            <p:cNvPr name="TextBox 4" id="4"/>
            <p:cNvSpPr txBox="true"/>
            <p:nvPr/>
          </p:nvSpPr>
          <p:spPr>
            <a:xfrm>
              <a:off x="0" y="-47625"/>
              <a:ext cx="5717339" cy="2925203"/>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244660" y="279610"/>
            <a:ext cx="17756645" cy="9685743"/>
            <a:chOff x="0" y="0"/>
            <a:chExt cx="4676647" cy="2550978"/>
          </a:xfrm>
        </p:grpSpPr>
        <p:sp>
          <p:nvSpPr>
            <p:cNvPr name="Freeform 6" id="6"/>
            <p:cNvSpPr/>
            <p:nvPr/>
          </p:nvSpPr>
          <p:spPr>
            <a:xfrm flipH="false" flipV="false" rot="0">
              <a:off x="0" y="0"/>
              <a:ext cx="4676647" cy="2550978"/>
            </a:xfrm>
            <a:custGeom>
              <a:avLst/>
              <a:gdLst/>
              <a:ahLst/>
              <a:cxnLst/>
              <a:rect r="r" b="b" t="t" l="l"/>
              <a:pathLst>
                <a:path h="2550978" w="4676647">
                  <a:moveTo>
                    <a:pt x="0" y="0"/>
                  </a:moveTo>
                  <a:lnTo>
                    <a:pt x="4676647" y="0"/>
                  </a:lnTo>
                  <a:lnTo>
                    <a:pt x="4676647" y="2550978"/>
                  </a:lnTo>
                  <a:lnTo>
                    <a:pt x="0" y="2550978"/>
                  </a:lnTo>
                  <a:close/>
                </a:path>
              </a:pathLst>
            </a:custGeom>
            <a:solidFill>
              <a:srgbClr val="FFFFFF"/>
            </a:solidFill>
          </p:spPr>
        </p:sp>
        <p:sp>
          <p:nvSpPr>
            <p:cNvPr name="TextBox 7" id="7"/>
            <p:cNvSpPr txBox="true"/>
            <p:nvPr/>
          </p:nvSpPr>
          <p:spPr>
            <a:xfrm>
              <a:off x="0" y="-47625"/>
              <a:ext cx="4676647" cy="2598603"/>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1028700" y="2851685"/>
            <a:ext cx="16376545" cy="5212080"/>
          </a:xfrm>
          <a:prstGeom prst="rect">
            <a:avLst/>
          </a:prstGeom>
        </p:spPr>
        <p:txBody>
          <a:bodyPr anchor="t" rtlCol="false" tIns="0" lIns="0" bIns="0" rIns="0">
            <a:spAutoFit/>
          </a:bodyPr>
          <a:lstStyle/>
          <a:p>
            <a:pPr algn="l" marL="712470" indent="-356235" lvl="1">
              <a:lnSpc>
                <a:spcPts val="4620"/>
              </a:lnSpc>
              <a:buFont typeface="Arial"/>
              <a:buChar char="•"/>
            </a:pPr>
            <a:r>
              <a:rPr lang="en-US" sz="3300">
                <a:solidFill>
                  <a:srgbClr val="000000"/>
                </a:solidFill>
                <a:latin typeface="Canva Sans"/>
                <a:ea typeface="Canva Sans"/>
                <a:cs typeface="Canva Sans"/>
                <a:sym typeface="Canva Sans"/>
              </a:rPr>
              <a:t>The proposed solar tracking system improves solar energy utilization through automatic panel alignment.</a:t>
            </a:r>
          </a:p>
          <a:p>
            <a:pPr algn="l" marL="712470" indent="-356235" lvl="1">
              <a:lnSpc>
                <a:spcPts val="4620"/>
              </a:lnSpc>
              <a:buFont typeface="Arial"/>
              <a:buChar char="•"/>
            </a:pPr>
            <a:r>
              <a:rPr lang="en-US" sz="3300">
                <a:solidFill>
                  <a:srgbClr val="000000"/>
                </a:solidFill>
                <a:latin typeface="Canva Sans"/>
                <a:ea typeface="Canva Sans"/>
                <a:cs typeface="Canva Sans"/>
                <a:sym typeface="Canva Sans"/>
              </a:rPr>
              <a:t>Integration of </a:t>
            </a:r>
            <a:r>
              <a:rPr lang="en-US" sz="3300">
                <a:solidFill>
                  <a:srgbClr val="000000"/>
                </a:solidFill>
                <a:latin typeface="Canva Sans"/>
                <a:ea typeface="Canva Sans"/>
                <a:cs typeface="Canva Sans"/>
                <a:sym typeface="Canva Sans"/>
              </a:rPr>
              <a:t>Arduino, LDR sensors, servo control, and PID feedback enables accurate and efficient sun tracking.</a:t>
            </a:r>
          </a:p>
          <a:p>
            <a:pPr algn="l" marL="712470" indent="-356235" lvl="1">
              <a:lnSpc>
                <a:spcPts val="4620"/>
              </a:lnSpc>
              <a:buFont typeface="Arial"/>
              <a:buChar char="•"/>
            </a:pPr>
            <a:r>
              <a:rPr lang="en-US" sz="3300">
                <a:solidFill>
                  <a:srgbClr val="000000"/>
                </a:solidFill>
                <a:latin typeface="Canva Sans"/>
                <a:ea typeface="Canva Sans"/>
                <a:cs typeface="Canva Sans"/>
                <a:sym typeface="Canva Sans"/>
              </a:rPr>
              <a:t>The design provides a cost-effective, reliable, and practical solution for renewable energy applications.</a:t>
            </a:r>
          </a:p>
          <a:p>
            <a:pPr algn="l" marL="712470" indent="-356235" lvl="1">
              <a:lnSpc>
                <a:spcPts val="4620"/>
              </a:lnSpc>
              <a:buFont typeface="Arial"/>
              <a:buChar char="•"/>
            </a:pPr>
            <a:r>
              <a:rPr lang="en-US" sz="3300">
                <a:solidFill>
                  <a:srgbClr val="000000"/>
                </a:solidFill>
                <a:latin typeface="Canva Sans"/>
                <a:ea typeface="Canva Sans"/>
                <a:cs typeface="Canva Sans"/>
                <a:sym typeface="Canva Sans"/>
              </a:rPr>
              <a:t>Real-time monitoring and testing confirm the stability and performance of the system.</a:t>
            </a:r>
          </a:p>
          <a:p>
            <a:pPr algn="l">
              <a:lnSpc>
                <a:spcPts val="4620"/>
              </a:lnSpc>
            </a:pPr>
          </a:p>
        </p:txBody>
      </p:sp>
      <p:sp>
        <p:nvSpPr>
          <p:cNvPr name="TextBox 9" id="9"/>
          <p:cNvSpPr txBox="true"/>
          <p:nvPr/>
        </p:nvSpPr>
        <p:spPr>
          <a:xfrm rot="0">
            <a:off x="4839130" y="168784"/>
            <a:ext cx="7986951" cy="1625603"/>
          </a:xfrm>
          <a:prstGeom prst="rect">
            <a:avLst/>
          </a:prstGeom>
        </p:spPr>
        <p:txBody>
          <a:bodyPr anchor="t" rtlCol="false" tIns="0" lIns="0" bIns="0" rIns="0">
            <a:spAutoFit/>
          </a:bodyPr>
          <a:lstStyle/>
          <a:p>
            <a:pPr algn="l">
              <a:lnSpc>
                <a:spcPts val="13299"/>
              </a:lnSpc>
            </a:pPr>
            <a:r>
              <a:rPr lang="en-US" sz="9499" spc="978">
                <a:solidFill>
                  <a:srgbClr val="9D6941"/>
                </a:solidFill>
                <a:latin typeface="Montserrat 2"/>
                <a:ea typeface="Montserrat 2"/>
                <a:cs typeface="Montserrat 2"/>
                <a:sym typeface="Montserrat 2"/>
              </a:rPr>
              <a:t>Conclusion</a:t>
            </a:r>
          </a:p>
        </p:txBody>
      </p:sp>
      <p:grpSp>
        <p:nvGrpSpPr>
          <p:cNvPr name="Group 10" id="10"/>
          <p:cNvGrpSpPr/>
          <p:nvPr/>
        </p:nvGrpSpPr>
        <p:grpSpPr>
          <a:xfrm rot="0">
            <a:off x="4837866" y="1801668"/>
            <a:ext cx="8402088" cy="123825"/>
            <a:chOff x="0" y="0"/>
            <a:chExt cx="8402091" cy="123825"/>
          </a:xfrm>
        </p:grpSpPr>
        <p:sp>
          <p:nvSpPr>
            <p:cNvPr name="Freeform 11" id="11"/>
            <p:cNvSpPr/>
            <p:nvPr/>
          </p:nvSpPr>
          <p:spPr>
            <a:xfrm flipH="false" flipV="false" rot="0">
              <a:off x="0" y="0"/>
              <a:ext cx="8402065" cy="123825"/>
            </a:xfrm>
            <a:custGeom>
              <a:avLst/>
              <a:gdLst/>
              <a:ahLst/>
              <a:cxnLst/>
              <a:rect r="r" b="b" t="t" l="l"/>
              <a:pathLst>
                <a:path h="123825" w="8402065">
                  <a:moveTo>
                    <a:pt x="0" y="0"/>
                  </a:moveTo>
                  <a:lnTo>
                    <a:pt x="8402065" y="0"/>
                  </a:lnTo>
                  <a:lnTo>
                    <a:pt x="8402065" y="123825"/>
                  </a:lnTo>
                  <a:lnTo>
                    <a:pt x="0" y="123825"/>
                  </a:lnTo>
                  <a:close/>
                </a:path>
              </a:pathLst>
            </a:custGeom>
            <a:solidFill>
              <a:srgbClr val="9D6941"/>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144000" cy="10287000"/>
            <a:chOff x="0" y="0"/>
            <a:chExt cx="9144000" cy="10287000"/>
          </a:xfrm>
        </p:grpSpPr>
        <p:sp>
          <p:nvSpPr>
            <p:cNvPr name="Freeform 3" id="3"/>
            <p:cNvSpPr/>
            <p:nvPr/>
          </p:nvSpPr>
          <p:spPr>
            <a:xfrm flipH="false" flipV="false" rot="0">
              <a:off x="0" y="0"/>
              <a:ext cx="9144001" cy="10287000"/>
            </a:xfrm>
            <a:custGeom>
              <a:avLst/>
              <a:gdLst/>
              <a:ahLst/>
              <a:cxnLst/>
              <a:rect r="r" b="b" t="t" l="l"/>
              <a:pathLst>
                <a:path h="10287000" w="9144001">
                  <a:moveTo>
                    <a:pt x="0" y="0"/>
                  </a:moveTo>
                  <a:lnTo>
                    <a:pt x="0" y="10287000"/>
                  </a:lnTo>
                  <a:lnTo>
                    <a:pt x="9144001" y="10287000"/>
                  </a:lnTo>
                  <a:lnTo>
                    <a:pt x="9144001" y="0"/>
                  </a:lnTo>
                  <a:close/>
                </a:path>
              </a:pathLst>
            </a:custGeom>
            <a:solidFill>
              <a:srgbClr val="FFF6E3"/>
            </a:solidFill>
          </p:spPr>
        </p:sp>
      </p:grpSp>
      <p:sp>
        <p:nvSpPr>
          <p:cNvPr name="Freeform 4" id="4"/>
          <p:cNvSpPr/>
          <p:nvPr/>
        </p:nvSpPr>
        <p:spPr>
          <a:xfrm flipH="false" flipV="false" rot="0">
            <a:off x="9288066" y="2365035"/>
            <a:ext cx="8999934" cy="5556930"/>
          </a:xfrm>
          <a:custGeom>
            <a:avLst/>
            <a:gdLst/>
            <a:ahLst/>
            <a:cxnLst/>
            <a:rect r="r" b="b" t="t" l="l"/>
            <a:pathLst>
              <a:path h="5556930" w="8999934">
                <a:moveTo>
                  <a:pt x="0" y="0"/>
                </a:moveTo>
                <a:lnTo>
                  <a:pt x="8999934" y="0"/>
                </a:lnTo>
                <a:lnTo>
                  <a:pt x="8999934" y="5556930"/>
                </a:lnTo>
                <a:lnTo>
                  <a:pt x="0" y="5556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20469" y="3829836"/>
            <a:ext cx="6903063" cy="1720815"/>
          </a:xfrm>
          <a:prstGeom prst="rect">
            <a:avLst/>
          </a:prstGeom>
        </p:spPr>
        <p:txBody>
          <a:bodyPr anchor="t" rtlCol="false" tIns="0" lIns="0" bIns="0" rIns="0">
            <a:spAutoFit/>
          </a:bodyPr>
          <a:lstStyle/>
          <a:p>
            <a:pPr algn="l">
              <a:lnSpc>
                <a:spcPts val="13999"/>
              </a:lnSpc>
            </a:pPr>
            <a:r>
              <a:rPr lang="en-US" sz="9999">
                <a:solidFill>
                  <a:srgbClr val="000000"/>
                </a:solidFill>
                <a:latin typeface="Hammersmith One"/>
                <a:ea typeface="Hammersmith One"/>
                <a:cs typeface="Hammersmith One"/>
                <a:sym typeface="Hammersmith One"/>
              </a:rPr>
              <a:t>THANK YOU</a:t>
            </a:r>
          </a:p>
        </p:txBody>
      </p:sp>
      <p:sp>
        <p:nvSpPr>
          <p:cNvPr name="TextBox 6" id="6"/>
          <p:cNvSpPr txBox="true"/>
          <p:nvPr/>
        </p:nvSpPr>
        <p:spPr>
          <a:xfrm rot="0">
            <a:off x="9486900" y="2791186"/>
            <a:ext cx="8242952" cy="3940990"/>
          </a:xfrm>
          <a:prstGeom prst="rect">
            <a:avLst/>
          </a:prstGeom>
        </p:spPr>
        <p:txBody>
          <a:bodyPr anchor="t" rtlCol="false" tIns="0" lIns="0" bIns="0" rIns="0">
            <a:spAutoFit/>
          </a:bodyPr>
          <a:lstStyle/>
          <a:p>
            <a:pPr algn="ctr">
              <a:lnSpc>
                <a:spcPts val="2626"/>
              </a:lnSpc>
            </a:pPr>
            <a:r>
              <a:rPr lang="en-US" sz="1876" u="sng">
                <a:solidFill>
                  <a:srgbClr val="000000"/>
                </a:solidFill>
                <a:latin typeface="Canva Sans"/>
                <a:ea typeface="Canva Sans"/>
                <a:cs typeface="Canva Sans"/>
                <a:sym typeface="Canva Sans"/>
                <a:hlinkClick r:id="rId4" tooltip="https://www.sciencedirect.com/science/article/pii/S2352484724006164"/>
              </a:rPr>
              <a:t>https://www.sciencedirect.com/science/article/pii/S2352484724006164</a:t>
            </a:r>
          </a:p>
          <a:p>
            <a:pPr algn="ctr">
              <a:lnSpc>
                <a:spcPts val="2626"/>
              </a:lnSpc>
            </a:pPr>
            <a:r>
              <a:rPr lang="en-US" sz="1876" u="sng">
                <a:solidFill>
                  <a:srgbClr val="000000"/>
                </a:solidFill>
                <a:latin typeface="Canva Sans"/>
                <a:ea typeface="Canva Sans"/>
                <a:cs typeface="Canva Sans"/>
                <a:sym typeface="Canva Sans"/>
                <a:hlinkClick r:id="rId5" tooltip="https://www.ijert.org/dual-axis-solar-tracking-system-2"/>
              </a:rPr>
              <a:t>https://www.ijert.org/dual-axis-solar-tracking-system-2 </a:t>
            </a:r>
          </a:p>
          <a:p>
            <a:pPr algn="ctr">
              <a:lnSpc>
                <a:spcPts val="2626"/>
              </a:lnSpc>
            </a:pPr>
            <a:r>
              <a:rPr lang="en-US" sz="1876" u="sng">
                <a:solidFill>
                  <a:srgbClr val="000000"/>
                </a:solidFill>
                <a:latin typeface="Canva Sans"/>
                <a:ea typeface="Canva Sans"/>
                <a:cs typeface="Canva Sans"/>
                <a:sym typeface="Canva Sans"/>
                <a:hlinkClick r:id="rId6" tooltip="https://github.com/pratz222/Dual-Axis-Solar-Tracker-using-Arduino"/>
              </a:rPr>
              <a:t>https://github.com/pratz222/Dual-Axis-Solar-Tracker-using-Arduino</a:t>
            </a:r>
          </a:p>
          <a:p>
            <a:pPr algn="ctr">
              <a:lnSpc>
                <a:spcPts val="2626"/>
              </a:lnSpc>
            </a:pPr>
            <a:r>
              <a:rPr lang="en-US" sz="1876" u="sng">
                <a:solidFill>
                  <a:srgbClr val="000000"/>
                </a:solidFill>
                <a:latin typeface="Canva Sans"/>
                <a:ea typeface="Canva Sans"/>
                <a:cs typeface="Canva Sans"/>
                <a:sym typeface="Canva Sans"/>
                <a:hlinkClick r:id="rId7" tooltip="https://github.com/Mohan-Balaji/Dual_Axis_Solar_Tracker"/>
              </a:rPr>
              <a:t>https://github.com/Mohan-Balaji/Dual_Axis_Solar_Tracker</a:t>
            </a:r>
          </a:p>
          <a:p>
            <a:pPr algn="ctr">
              <a:lnSpc>
                <a:spcPts val="2626"/>
              </a:lnSpc>
            </a:pPr>
            <a:r>
              <a:rPr lang="en-US" sz="1876" u="sng">
                <a:solidFill>
                  <a:srgbClr val="000000"/>
                </a:solidFill>
                <a:latin typeface="Canva Sans"/>
                <a:ea typeface="Canva Sans"/>
                <a:cs typeface="Canva Sans"/>
                <a:sym typeface="Canva Sans"/>
              </a:rPr>
              <a:t>https://github.com/Tinker-Twins/Dual_Axis_Solar_Tracker</a:t>
            </a:r>
          </a:p>
          <a:p>
            <a:pPr algn="ctr">
              <a:lnSpc>
                <a:spcPts val="2626"/>
              </a:lnSpc>
            </a:pPr>
            <a:r>
              <a:rPr lang="en-US" sz="1876" u="sng">
                <a:solidFill>
                  <a:srgbClr val="000000"/>
                </a:solidFill>
                <a:latin typeface="Canva Sans"/>
                <a:ea typeface="Canva Sans"/>
                <a:cs typeface="Canva Sans"/>
                <a:sym typeface="Canva Sans"/>
                <a:hlinkClick r:id="rId8" tooltip="https://projecthub.arduino.cc/rinme/dual-axis-solar-tracker-system-using-arduino-d1056a"/>
              </a:rPr>
              <a:t>https://projecthub.arduino.cc/rinme/dual-axis-solar-tracker-system-using-arduino-d1056a</a:t>
            </a:r>
          </a:p>
          <a:p>
            <a:pPr algn="ctr">
              <a:lnSpc>
                <a:spcPts val="2626"/>
              </a:lnSpc>
            </a:pPr>
            <a:r>
              <a:rPr lang="en-US" sz="1876" u="sng">
                <a:solidFill>
                  <a:srgbClr val="000000"/>
                </a:solidFill>
                <a:latin typeface="Canva Sans"/>
                <a:ea typeface="Canva Sans"/>
                <a:cs typeface="Canva Sans"/>
                <a:sym typeface="Canva Sans"/>
                <a:hlinkClick r:id="rId9" tooltip="https://www.hackster.io/ElectroScopeArchive/dual-axis-solar-tracker-with-arduino-and-ldr-sensors-ee227a"/>
              </a:rPr>
              <a:t>https://www.hackster.io/ElectroScopeArchive/dual-axis-solar-tracker-with-arduino-and-ldr-sensors-ee227a</a:t>
            </a:r>
          </a:p>
          <a:p>
            <a:pPr algn="ctr">
              <a:lnSpc>
                <a:spcPts val="2626"/>
              </a:lnSpc>
            </a:pPr>
            <a:r>
              <a:rPr lang="en-US" sz="1876" u="sng">
                <a:solidFill>
                  <a:srgbClr val="000000"/>
                </a:solidFill>
                <a:latin typeface="Canva Sans"/>
                <a:ea typeface="Canva Sans"/>
                <a:cs typeface="Canva Sans"/>
                <a:sym typeface="Canva Sans"/>
              </a:rPr>
              <a:t>https://docs.arduino.cc/resources/datasheets/A000066-datasheet.pdf</a:t>
            </a:r>
          </a:p>
          <a:p>
            <a:pPr algn="ctr">
              <a:lnSpc>
                <a:spcPts val="2626"/>
              </a:lnSpc>
            </a:pPr>
            <a:r>
              <a:rPr lang="en-US" sz="1876" u="sng">
                <a:solidFill>
                  <a:srgbClr val="000000"/>
                </a:solidFill>
                <a:latin typeface="Canva Sans"/>
                <a:ea typeface="Canva Sans"/>
                <a:cs typeface="Canva Sans"/>
                <a:sym typeface="Canva Sans"/>
              </a:rPr>
              <a:t>http://www.ee.ic.ac.uk/pcheung/teaching/DE1_EE/stores/sg90_datasheet.pdf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DAHKGkp8nq8</dc:identifier>
  <dcterms:modified xsi:type="dcterms:W3CDTF">2011-08-01T06:04:30Z</dcterms:modified>
  <cp:revision>1</cp:revision>
  <dc:title>Xt_slides.pdf</dc:title>
</cp:coreProperties>
</file>